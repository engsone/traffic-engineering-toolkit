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9D14"/>
    <a:srgbClr val="4F7E70"/>
    <a:srgbClr val="77777A"/>
    <a:srgbClr val="87C44F"/>
    <a:srgbClr val="E0D31D"/>
    <a:srgbClr val="E38D00"/>
    <a:srgbClr val="F99E00"/>
    <a:srgbClr val="BF0000"/>
    <a:srgbClr val="E4CF0D"/>
    <a:srgbClr val="FFF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41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267" y="11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التحويلات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4F7E7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76E-4538-8BC9-01BBEC5EB5F2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76E-4538-8BC9-01BBEC5EB5F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Cairo" panose="00000500000000000000" pitchFamily="2" charset="-78"/>
                    <a:ea typeface="+mn-ea"/>
                    <a:cs typeface="Cairo" panose="00000500000000000000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عدد التحويلات النظامية</c:v>
                </c:pt>
                <c:pt idx="1">
                  <c:v>عدد التحويلات الخطرة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E-4538-8BC9-01BBEC5EB5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6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20732505960119"/>
          <c:y val="7.9740769868794831E-2"/>
          <c:w val="0.74220893808250288"/>
          <c:h val="0.6193139694209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BB9D14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4F7E7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5-4F74-44AC-8168-91B57C3CA687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4-4F74-44AC-8168-91B57C3CA687}"/>
              </c:ext>
            </c:extLst>
          </c:dPt>
          <c:dPt>
            <c:idx val="3"/>
            <c:invertIfNegative val="0"/>
            <c:bubble3D val="0"/>
            <c:spPr>
              <a:solidFill>
                <a:srgbClr val="50748A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5-0B93-4D02-8058-25569FA5CCBA}"/>
              </c:ext>
            </c:extLst>
          </c:dPt>
          <c:dLbls>
            <c:dLbl>
              <c:idx val="0"/>
              <c:layout>
                <c:manualLayout>
                  <c:x val="-7.7844485236001376E-2"/>
                  <c:y val="4.366343058760835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F74-44AC-8168-91B57C3CA687}"/>
                </c:ext>
              </c:extLst>
            </c:dLbl>
            <c:dLbl>
              <c:idx val="1"/>
              <c:layout>
                <c:manualLayout>
                  <c:x val="-7.1496594908654509E-2"/>
                  <c:y val="0.10915857646902086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3E-49AC-9977-665D83E888FE}"/>
                </c:ext>
              </c:extLst>
            </c:dLbl>
            <c:dLbl>
              <c:idx val="2"/>
              <c:layout>
                <c:manualLayout>
                  <c:x val="-6.7862131706545967E-2"/>
                  <c:y val="9.2315494071485982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74-44AC-8168-91B57C3CA687}"/>
                </c:ext>
              </c:extLst>
            </c:dLbl>
            <c:dLbl>
              <c:idx val="3"/>
              <c:layout>
                <c:manualLayout>
                  <c:x val="-7.1061078725195737E-2"/>
                  <c:y val="0.1099149508571526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B93-4D02-8058-25569FA5CCB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iro" panose="00000500000000000000" pitchFamily="2" charset="-78"/>
                    <a:ea typeface="+mn-ea"/>
                    <a:cs typeface="Cairo" panose="00000500000000000000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اجمالي المرصود</c:v>
                </c:pt>
                <c:pt idx="1">
                  <c:v>مرصودة  (هذا الشهر) </c:v>
                </c:pt>
                <c:pt idx="2">
                  <c:v>مغلق  (هذا الشهر)</c:v>
                </c:pt>
                <c:pt idx="3">
                  <c:v>رفع امر  (هذا الشهر)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419</c:v>
                </c:pt>
                <c:pt idx="1">
                  <c:v>40</c:v>
                </c:pt>
                <c:pt idx="2">
                  <c:v>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3E-49AC-9977-665D83E888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axId val="811955384"/>
        <c:axId val="811957184"/>
      </c:barChart>
      <c:catAx>
        <c:axId val="8119553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77777A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92AF-431C-8B3F-3FBE5D85F8B4}"/>
              </c:ext>
            </c:extLst>
          </c:dPt>
          <c:dPt>
            <c:idx val="2"/>
            <c:invertIfNegative val="0"/>
            <c:bubble3D val="0"/>
            <c:spPr>
              <a:solidFill>
                <a:srgbClr val="BB9D14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0-92AF-431C-8B3F-3FBE5D85F8B4}"/>
              </c:ext>
            </c:extLst>
          </c:dPt>
          <c:dPt>
            <c:idx val="3"/>
            <c:invertIfNegative val="0"/>
            <c:bubble3D val="0"/>
            <c:spPr>
              <a:solidFill>
                <a:srgbClr val="4F7E7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5-7A7A-4F91-9B62-818D79E55B5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رفض D</c:v>
                </c:pt>
                <c:pt idx="1">
                  <c:v>إعادة تسليم  C</c:v>
                </c:pt>
                <c:pt idx="2">
                  <c:v>موافقة مع وجود ملاحظات B</c:v>
                </c:pt>
                <c:pt idx="3">
                  <c:v>موافقة A </c:v>
                </c:pt>
                <c:pt idx="4">
                  <c:v>عدم ممانعه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E9-4512-AE8B-993CA97BCF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overlap val="67"/>
        <c:axId val="811955384"/>
        <c:axId val="811957184"/>
      </c:barChart>
      <c:catAx>
        <c:axId val="811955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529397223583534"/>
          <c:y val="0.16454594388947977"/>
          <c:w val="0.69773825201822604"/>
          <c:h val="0.480831045355552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BB9D14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0-3875-4842-A4C0-10EA74AA06E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iro" panose="00000500000000000000" pitchFamily="2" charset="-78"/>
                    <a:ea typeface="+mn-ea"/>
                    <a:cs typeface="Cairo" panose="00000500000000000000" pitchFamily="2" charset="-78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اصابات   </c:v>
                </c:pt>
                <c:pt idx="1">
                  <c:v>وفيات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47-4D8E-AA37-1135CAFEDF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overlap val="67"/>
        <c:axId val="811955384"/>
        <c:axId val="811957184"/>
      </c:barChart>
      <c:catAx>
        <c:axId val="811955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482987406213973"/>
          <c:y val="0.31234252496280829"/>
          <c:w val="0.37742671002717071"/>
          <c:h val="0.633502164848387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6-C5F6-4625-8EE1-973EB3C2FFAE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5F6-4625-8EE1-973EB3C2FFAE}"/>
              </c:ext>
            </c:extLst>
          </c:dPt>
          <c:dPt>
            <c:idx val="2"/>
            <c:bubble3D val="0"/>
            <c:spPr>
              <a:solidFill>
                <a:srgbClr val="FB9D0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C5F6-4625-8EE1-973EB3C2FFAE}"/>
              </c:ext>
            </c:extLst>
          </c:dPt>
          <c:dPt>
            <c:idx val="3"/>
            <c:bubble3D val="0"/>
            <c:spPr>
              <a:solidFill>
                <a:srgbClr val="FFF03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C5F6-4625-8EE1-973EB3C2FFAE}"/>
              </c:ext>
            </c:extLst>
          </c:dPt>
          <c:dPt>
            <c:idx val="4"/>
            <c:bubble3D val="0"/>
            <c:spPr>
              <a:solidFill>
                <a:srgbClr val="87C44F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5F6-4625-8EE1-973EB3C2FFAE}"/>
              </c:ext>
            </c:extLst>
          </c:dPt>
          <c:dLbls>
            <c:dLbl>
              <c:idx val="0"/>
              <c:layout>
                <c:manualLayout>
                  <c:x val="6.5800902994321606E-2"/>
                  <c:y val="-0.2052272517697702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36EE8CF-E664-464C-8F9A-47581E76C052}" type="VALUE">
                      <a:rPr lang="en-US" smtClean="0">
                        <a:solidFill>
                          <a:schemeClr val="tx1"/>
                        </a:solidFill>
                      </a:rPr>
                      <a:pPr>
                        <a:defRPr>
                          <a:solidFill>
                            <a:schemeClr val="tx1"/>
                          </a:solidFill>
                        </a:defRPr>
                      </a:pPr>
                      <a:t>[القيمة]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253329738006826"/>
                      <c:h val="0.185945208069013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C5F6-4625-8EE1-973EB3C2FFAE}"/>
                </c:ext>
              </c:extLst>
            </c:dLbl>
            <c:dLbl>
              <c:idx val="1"/>
              <c:layout>
                <c:manualLayout>
                  <c:x val="0.12438767799508356"/>
                  <c:y val="-8.3571639115586668E-2"/>
                </c:manualLayout>
              </c:layout>
              <c:tx>
                <c:rich>
                  <a:bodyPr/>
                  <a:lstStyle/>
                  <a:p>
                    <a:fld id="{CFE15802-9B57-4B95-B872-D161B6F39935}" type="VALUE">
                      <a:rPr lang="en-US" smtClean="0">
                        <a:solidFill>
                          <a:srgbClr val="AD0000"/>
                        </a:solidFill>
                      </a:rPr>
                      <a:pPr/>
                      <a:t>[القيمة]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5F6-4625-8EE1-973EB3C2FFAE}"/>
                </c:ext>
              </c:extLst>
            </c:dLbl>
            <c:dLbl>
              <c:idx val="2"/>
              <c:layout>
                <c:manualLayout>
                  <c:x val="0.17038605319384839"/>
                  <c:y val="-0.13595182749664061"/>
                </c:manualLayout>
              </c:layout>
              <c:tx>
                <c:rich>
                  <a:bodyPr/>
                  <a:lstStyle/>
                  <a:p>
                    <a:fld id="{FB112368-435B-4114-A932-38A4BFDCEFC7}" type="VALUE">
                      <a:rPr lang="en-US" smtClean="0">
                        <a:solidFill>
                          <a:srgbClr val="E38D00"/>
                        </a:solidFill>
                      </a:rPr>
                      <a:pPr/>
                      <a:t>[القيمة]</a:t>
                    </a:fld>
                    <a:r>
                      <a:rPr lang="en-US" baseline="0" dirty="0">
                        <a:solidFill>
                          <a:srgbClr val="E38D00"/>
                        </a:solidFill>
                      </a:rPr>
                      <a:t>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C5F6-4625-8EE1-973EB3C2FFAE}"/>
                </c:ext>
              </c:extLst>
            </c:dLbl>
            <c:dLbl>
              <c:idx val="3"/>
              <c:layout>
                <c:manualLayout>
                  <c:x val="-7.6330713262518904E-2"/>
                  <c:y val="0.2486750376181112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rgbClr val="E4CF0D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B4618A5-3CEF-4D4F-BE41-BF4DA2DA7B00}" type="VALUE">
                      <a:rPr lang="en-US" smtClean="0">
                        <a:solidFill>
                          <a:srgbClr val="E4CF0D"/>
                        </a:solidFill>
                      </a:rPr>
                      <a:pPr>
                        <a:defRPr>
                          <a:solidFill>
                            <a:srgbClr val="E4CF0D"/>
                          </a:solidFill>
                        </a:defRPr>
                      </a:pPr>
                      <a:t>[القيمة]</a:t>
                    </a:fld>
                    <a:r>
                      <a:rPr lang="en-US" baseline="0" dirty="0">
                        <a:solidFill>
                          <a:srgbClr val="E4CF0D"/>
                        </a:solidFill>
                      </a:rPr>
                      <a:t>, 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E4CF0D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314122617386161"/>
                      <c:h val="0.1859452080690134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C5F6-4625-8EE1-973EB3C2FFAE}"/>
                </c:ext>
              </c:extLst>
            </c:dLbl>
            <c:dLbl>
              <c:idx val="4"/>
              <c:layout>
                <c:manualLayout>
                  <c:x val="-0.14625812269246169"/>
                  <c:y val="-0.1836152937144306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1" i="0" u="none" strike="noStrike" kern="1200" baseline="0">
                        <a:solidFill>
                          <a:srgbClr val="87C44F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3B0A91E-54EB-4B0B-8011-D884FD52D6A2}" type="VALUE">
                      <a:rPr lang="en-US" smtClean="0">
                        <a:solidFill>
                          <a:srgbClr val="87C44F"/>
                        </a:solidFill>
                      </a:rPr>
                      <a:pPr>
                        <a:defRPr>
                          <a:solidFill>
                            <a:srgbClr val="87C44F"/>
                          </a:solidFill>
                        </a:defRPr>
                      </a:pPr>
                      <a:t>[القيمة]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87C44F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C5F6-4625-8EE1-973EB3C2FFA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 STAR</c:v>
                </c:pt>
                <c:pt idx="1">
                  <c:v>2 STAR </c:v>
                </c:pt>
                <c:pt idx="2">
                  <c:v>3 STAR</c:v>
                </c:pt>
                <c:pt idx="3">
                  <c:v>4 STAR</c:v>
                </c:pt>
                <c:pt idx="4">
                  <c:v>5 STAR         </c:v>
                </c:pt>
              </c:strCache>
            </c:strRef>
          </c:cat>
          <c:val>
            <c:numRef>
              <c:f>Sheet1!$B$2:$B$6</c:f>
              <c:numCache>
                <c:formatCode>0.00%</c:formatCode>
                <c:ptCount val="5"/>
                <c:pt idx="0">
                  <c:v>0.02</c:v>
                </c:pt>
                <c:pt idx="1">
                  <c:v>7.8E-2</c:v>
                </c:pt>
                <c:pt idx="2">
                  <c:v>0.47</c:v>
                </c:pt>
                <c:pt idx="3">
                  <c:v>0.39</c:v>
                </c:pt>
                <c:pt idx="4">
                  <c:v>3.6999999999999998E-2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F6-4625-8EE1-973EB3C2FFAE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66211240194623966"/>
          <c:y val="0.5616518601709618"/>
          <c:w val="0.33490461226937213"/>
          <c:h val="0.387978184290216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Column3</c:v>
                </c:pt>
              </c:strCache>
            </c:strRef>
          </c:tx>
          <c:spPr>
            <a:solidFill>
              <a:srgbClr val="77777A"/>
            </a:solidFill>
            <a:ln>
              <a:noFill/>
            </a:ln>
            <a:effectLst>
              <a:outerShdw blurRad="50800" dist="50800" dir="5400000" sx="1000" sy="1000" algn="ctr" rotWithShape="0">
                <a:srgbClr val="000000">
                  <a:alpha val="43137"/>
                </a:srgbClr>
              </a:outerShdw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4F7E70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1-4595-4D2D-B4D0-04069E2B007E}"/>
              </c:ext>
            </c:extLst>
          </c:dPt>
          <c:dPt>
            <c:idx val="1"/>
            <c:invertIfNegative val="0"/>
            <c:bubble3D val="0"/>
            <c:spPr>
              <a:solidFill>
                <a:srgbClr val="BB9D14"/>
              </a:solidFill>
              <a:ln>
                <a:noFill/>
              </a:ln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4595-4D2D-B4D0-04069E2B007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تعمل</c:v>
                </c:pt>
                <c:pt idx="1">
                  <c:v>تتطلب الى صيانة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595-4D2D-B4D0-04069E2B00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2"/>
        <c:overlap val="67"/>
        <c:axId val="811955384"/>
        <c:axId val="811957184"/>
      </c:barChart>
      <c:catAx>
        <c:axId val="8119553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ea typeface="+mn-ea"/>
                <a:cs typeface="Cairo" panose="00000500000000000000" pitchFamily="2" charset="-78"/>
              </a:defRPr>
            </a:pPr>
            <a:endParaRPr lang="en-US"/>
          </a:p>
        </c:txPr>
        <c:crossAx val="811957184"/>
        <c:crosses val="autoZero"/>
        <c:auto val="1"/>
        <c:lblAlgn val="ctr"/>
        <c:lblOffset val="100"/>
        <c:noMultiLvlLbl val="0"/>
      </c:catAx>
      <c:valAx>
        <c:axId val="8119571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119553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7528-D502-DE36-F5DE-D8E2C0479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5C128-11AE-7F6D-FA73-25CD6C95F1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9D809-38CD-CEFA-805E-F77EE2C2E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4242B-0B5F-F418-FA83-6B1A491B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F182B-7969-1AD0-317A-DD7AEBCA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66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0704A-2175-8D33-3B8B-BF8BAE54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47FEA-1677-F01B-7AC7-C0DA323DF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82D63-28BB-2E70-693A-1C6202B2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6F3F1-BD50-A8C2-E086-BF8A7AA27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DD4B6-F40A-BA0D-2B4B-624CD67B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4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61CC-6114-A9D7-3D63-FE94CA04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58534-20E6-C93F-2369-82C5AC19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E2BC-3F60-9714-0276-BCEA9AA4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86B3F-8521-6DD5-F9A1-D65724F6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7B070-DA87-E670-32E3-20A8F4BB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7A21A-2040-E797-499A-3A7E3F12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DA82B-BD4A-93E4-CDC1-EFA989D1C8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6DBC0-9A74-D731-DEC0-F5EBF9EA7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E8E84-01F1-F4D2-1C10-FF15DBB0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CF185-D5E2-84BA-C33F-0CCD7EF9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63447-6E63-D282-4AE3-0D9F85F3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6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84A3-B97C-7DF9-4FF0-99423B4A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E3A81-5152-BA73-FCF5-8AD67C84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A8BE64-A5C2-99EE-A65E-864337E74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EBC88-4027-7A73-2D45-B310F1BA9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42271-18E4-9F79-D308-1721FD8A1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14D9F-CCE9-49A1-931D-A54473D8C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C21B1-F9E2-E5CC-6388-68BB05FA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382EE-A982-4D92-18E0-A6455F3D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9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48A65-8479-219E-61B8-84DE662E0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328D54-68E9-D144-C7A0-D2DF0F0B5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AE74F-122E-511B-CE40-92E8D8EC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035F67-CDBF-F6D8-7DA8-3CDA828B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7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2DBEC0-6B0D-0AF6-311D-BFA8D17B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7BE05-018C-453D-AABB-1FA9BE008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6B1D3-B605-8B5B-76AB-EFE76B46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5C59-48A2-4205-21B9-F91AEBC7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20D1-75E0-ABB9-F7FB-2121DD7F4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55B3B-495B-6731-F3C6-D85B8B3AC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45A99-412F-A2CB-4011-D4D1D0E96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B4499-0200-06F1-7CF4-ED110AE6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7F89E-A423-FC4A-75E4-4F9841ADB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9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34CBA-ACEB-DC9B-60E9-20D8E1F1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8E287-D357-9E03-71B3-0AF71E682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AB3CDF-4C94-BA44-33CB-FC37787D8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1F6C4-F900-35A1-D705-84DB8BDB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96A9E-89A2-4E6C-5319-71F41349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A081C-DB6F-E9FC-4064-1C0B278F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9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C27E-FA0A-1921-31C3-D6AEB5C5B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4D707-8583-4579-1CD0-938DB491D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154FA-8642-3CA0-1484-C9936D9A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9618B-4328-3EFC-B42B-76D615F2D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43723-033E-9CBE-88D9-042971DE6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010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EF1D8E-FAF5-D3A0-93F4-D24AD4C99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2F5DA-0D41-B826-5779-F69D6B42E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FFB59-ABCD-DD2F-895B-CDB14861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97DB-BA8B-F1BC-4236-0FCDA0A8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B7D28-8401-65F4-FF25-CC9E4DB3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13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99E326-175E-8E7F-BAD9-934991D4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70048-CE5E-F76A-B07C-3C2E5F228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06152-A84C-8EB0-F966-E9B4F3F10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9A546-E7C8-408D-9840-8400E64023E0}" type="datetimeFigureOut">
              <a:rPr lang="en-US" smtClean="0"/>
              <a:t>7/9/2025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A0F39-93F6-C00C-25D4-83B237FD2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EC9E7-BDE3-8A77-C4E2-90A6E0CED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F6D4B-2DB3-47C3-A3BF-220152D89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chart" Target="../charts/chart2.xml"/><Relationship Id="rId7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chart" Target="../charts/chart6.xml"/><Relationship Id="rId4" Type="http://schemas.openxmlformats.org/officeDocument/2006/relationships/chart" Target="../charts/chart3.xml"/><Relationship Id="rId9" Type="http://schemas.openxmlformats.org/officeDocument/2006/relationships/chart" Target="../charts/char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ستطيل 1">
            <a:extLst>
              <a:ext uri="{FF2B5EF4-FFF2-40B4-BE49-F238E27FC236}">
                <a16:creationId xmlns:a16="http://schemas.microsoft.com/office/drawing/2014/main" id="{24543BDE-2C20-B026-EC0B-2160D06C83C3}"/>
              </a:ext>
            </a:extLst>
          </p:cNvPr>
          <p:cNvSpPr/>
          <p:nvPr/>
        </p:nvSpPr>
        <p:spPr>
          <a:xfrm>
            <a:off x="-600799" y="2233063"/>
            <a:ext cx="385011" cy="385011"/>
          </a:xfrm>
          <a:prstGeom prst="rect">
            <a:avLst/>
          </a:prstGeom>
          <a:solidFill>
            <a:srgbClr val="4F7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5" name="مستطيل 2">
            <a:extLst>
              <a:ext uri="{FF2B5EF4-FFF2-40B4-BE49-F238E27FC236}">
                <a16:creationId xmlns:a16="http://schemas.microsoft.com/office/drawing/2014/main" id="{FBC3E228-FF74-74FE-A0AD-416DA058788A}"/>
              </a:ext>
            </a:extLst>
          </p:cNvPr>
          <p:cNvSpPr/>
          <p:nvPr/>
        </p:nvSpPr>
        <p:spPr>
          <a:xfrm>
            <a:off x="-600799" y="3137837"/>
            <a:ext cx="385011" cy="385011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6" name="مستطيل 3">
            <a:extLst>
              <a:ext uri="{FF2B5EF4-FFF2-40B4-BE49-F238E27FC236}">
                <a16:creationId xmlns:a16="http://schemas.microsoft.com/office/drawing/2014/main" id="{7A0010EB-935F-2CDE-DC09-3847F00C78F9}"/>
              </a:ext>
            </a:extLst>
          </p:cNvPr>
          <p:cNvSpPr/>
          <p:nvPr/>
        </p:nvSpPr>
        <p:spPr>
          <a:xfrm>
            <a:off x="-600799" y="3590225"/>
            <a:ext cx="385011" cy="385011"/>
          </a:xfrm>
          <a:prstGeom prst="rect">
            <a:avLst/>
          </a:prstGeom>
          <a:solidFill>
            <a:srgbClr val="A59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7" name="مستطيل 4">
            <a:extLst>
              <a:ext uri="{FF2B5EF4-FFF2-40B4-BE49-F238E27FC236}">
                <a16:creationId xmlns:a16="http://schemas.microsoft.com/office/drawing/2014/main" id="{1D030F5A-D464-243B-EA18-E70C8F4EB297}"/>
              </a:ext>
            </a:extLst>
          </p:cNvPr>
          <p:cNvSpPr/>
          <p:nvPr/>
        </p:nvSpPr>
        <p:spPr>
          <a:xfrm>
            <a:off x="-600799" y="4042613"/>
            <a:ext cx="385011" cy="385011"/>
          </a:xfrm>
          <a:prstGeom prst="rect">
            <a:avLst/>
          </a:prstGeom>
          <a:solidFill>
            <a:srgbClr val="A94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8" name="مستطيل 5">
            <a:extLst>
              <a:ext uri="{FF2B5EF4-FFF2-40B4-BE49-F238E27FC236}">
                <a16:creationId xmlns:a16="http://schemas.microsoft.com/office/drawing/2014/main" id="{8BA37EA0-2DAE-C2D7-843C-B27B5C8EBC72}"/>
              </a:ext>
            </a:extLst>
          </p:cNvPr>
          <p:cNvSpPr/>
          <p:nvPr/>
        </p:nvSpPr>
        <p:spPr>
          <a:xfrm>
            <a:off x="-600799" y="4495002"/>
            <a:ext cx="385011" cy="385011"/>
          </a:xfrm>
          <a:prstGeom prst="rect">
            <a:avLst/>
          </a:prstGeom>
          <a:solidFill>
            <a:srgbClr val="507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9" name="مستطيل 6">
            <a:extLst>
              <a:ext uri="{FF2B5EF4-FFF2-40B4-BE49-F238E27FC236}">
                <a16:creationId xmlns:a16="http://schemas.microsoft.com/office/drawing/2014/main" id="{EB95968B-0F25-6E3A-EB2F-FE863CA207BE}"/>
              </a:ext>
            </a:extLst>
          </p:cNvPr>
          <p:cNvSpPr/>
          <p:nvPr/>
        </p:nvSpPr>
        <p:spPr>
          <a:xfrm>
            <a:off x="-600799" y="2685448"/>
            <a:ext cx="385011" cy="385011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B1A80-803F-DBF8-3BD7-8EB4A6870D5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DC0359-0044-A3FF-3001-7AB7C04FE365}"/>
              </a:ext>
            </a:extLst>
          </p:cNvPr>
          <p:cNvSpPr/>
          <p:nvPr/>
        </p:nvSpPr>
        <p:spPr>
          <a:xfrm>
            <a:off x="10090746" y="323927"/>
            <a:ext cx="77555" cy="382782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9F0D7C-8771-7C7C-6555-976EA37CE3E0}"/>
              </a:ext>
            </a:extLst>
          </p:cNvPr>
          <p:cNvSpPr txBox="1"/>
          <p:nvPr/>
        </p:nvSpPr>
        <p:spPr>
          <a:xfrm>
            <a:off x="4994363" y="336576"/>
            <a:ext cx="51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بطاقة أداء السلامة </a:t>
            </a:r>
            <a:r>
              <a:rPr lang="ar-SA" b="1" dirty="0">
                <a:solidFill>
                  <a:schemeClr val="bg1"/>
                </a:solidFill>
                <a:cs typeface="Cairo" panose="00000500000000000000" pitchFamily="2" charset="-78"/>
              </a:rPr>
              <a:t>بمنطقة (تبوك)</a:t>
            </a:r>
            <a:endParaRPr lang="en-US" b="1" dirty="0">
              <a:solidFill>
                <a:schemeClr val="bg1"/>
              </a:solidFill>
              <a:cs typeface="Cairo" panose="00000500000000000000" pitchFamily="2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63A3DE1-FB1E-B1C6-557E-15E3E448F8B0}"/>
              </a:ext>
            </a:extLst>
          </p:cNvPr>
          <p:cNvSpPr/>
          <p:nvPr/>
        </p:nvSpPr>
        <p:spPr>
          <a:xfrm>
            <a:off x="292963" y="923278"/>
            <a:ext cx="11606074" cy="5791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754F06-B133-0D18-46EB-6EFB90C409A9}"/>
              </a:ext>
            </a:extLst>
          </p:cNvPr>
          <p:cNvSpPr/>
          <p:nvPr/>
        </p:nvSpPr>
        <p:spPr>
          <a:xfrm>
            <a:off x="8105778" y="1048409"/>
            <a:ext cx="3662333" cy="15696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B4EAEB-2A97-97D8-AB19-A3009397515A}"/>
              </a:ext>
            </a:extLst>
          </p:cNvPr>
          <p:cNvSpPr txBox="1"/>
          <p:nvPr/>
        </p:nvSpPr>
        <p:spPr>
          <a:xfrm>
            <a:off x="8512091" y="1123795"/>
            <a:ext cx="3256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2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إحصائيات التحويلات المرورية ومناطق العمل لآخر اسبوع:</a:t>
            </a:r>
            <a:endParaRPr lang="en-US" sz="12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50ED24B-C69A-4CD9-013C-6752BF9A9E52}"/>
              </a:ext>
            </a:extLst>
          </p:cNvPr>
          <p:cNvSpPr/>
          <p:nvPr/>
        </p:nvSpPr>
        <p:spPr>
          <a:xfrm>
            <a:off x="8242548" y="1142171"/>
            <a:ext cx="407663" cy="307777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2" name="Chart 61">
            <a:extLst>
              <a:ext uri="{FF2B5EF4-FFF2-40B4-BE49-F238E27FC236}">
                <a16:creationId xmlns:a16="http://schemas.microsoft.com/office/drawing/2014/main" id="{AB58640E-BD24-A728-FA11-CDAF879287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3110782"/>
              </p:ext>
            </p:extLst>
          </p:nvPr>
        </p:nvGraphicFramePr>
        <p:xfrm>
          <a:off x="9581847" y="1404742"/>
          <a:ext cx="2098741" cy="13934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69" name="Group 68">
            <a:extLst>
              <a:ext uri="{FF2B5EF4-FFF2-40B4-BE49-F238E27FC236}">
                <a16:creationId xmlns:a16="http://schemas.microsoft.com/office/drawing/2014/main" id="{8CC53446-5D06-AF5E-3793-6901501E11C8}"/>
              </a:ext>
            </a:extLst>
          </p:cNvPr>
          <p:cNvGrpSpPr/>
          <p:nvPr/>
        </p:nvGrpSpPr>
        <p:grpSpPr>
          <a:xfrm>
            <a:off x="7957417" y="1821164"/>
            <a:ext cx="1608311" cy="684710"/>
            <a:chOff x="7836245" y="2977967"/>
            <a:chExt cx="2083165" cy="700107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B522A7A-0E75-8357-1173-ECDE32371591}"/>
                </a:ext>
              </a:extLst>
            </p:cNvPr>
            <p:cNvSpPr/>
            <p:nvPr/>
          </p:nvSpPr>
          <p:spPr>
            <a:xfrm>
              <a:off x="9705520" y="2977967"/>
              <a:ext cx="213890" cy="185768"/>
            </a:xfrm>
            <a:prstGeom prst="rect">
              <a:avLst/>
            </a:prstGeom>
            <a:solidFill>
              <a:srgbClr val="4F7E7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768DC554-4F6B-4EE5-EBD2-691608B265BF}"/>
                </a:ext>
              </a:extLst>
            </p:cNvPr>
            <p:cNvSpPr/>
            <p:nvPr/>
          </p:nvSpPr>
          <p:spPr>
            <a:xfrm>
              <a:off x="9705520" y="3343183"/>
              <a:ext cx="213890" cy="18576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B6131FC-FF73-9E25-E7F0-086AD16BB3EA}"/>
                </a:ext>
              </a:extLst>
            </p:cNvPr>
            <p:cNvSpPr txBox="1"/>
            <p:nvPr/>
          </p:nvSpPr>
          <p:spPr>
            <a:xfrm>
              <a:off x="7965139" y="2990317"/>
              <a:ext cx="1853871" cy="23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ar-SA" sz="900" dirty="0"/>
                <a:t>عدد التحويلات النظامية</a:t>
              </a:r>
              <a:endParaRPr lang="en-US" sz="9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D2E7F88-F2E3-3CF5-FADA-10ED2C4D987D}"/>
                </a:ext>
              </a:extLst>
            </p:cNvPr>
            <p:cNvSpPr txBox="1"/>
            <p:nvPr/>
          </p:nvSpPr>
          <p:spPr>
            <a:xfrm>
              <a:off x="7836245" y="3268967"/>
              <a:ext cx="1890172" cy="409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SA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عدد</a:t>
              </a:r>
              <a:r>
                <a:rPr lang="ar-SA" sz="1100" dirty="0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 </a:t>
              </a:r>
              <a:r>
                <a:rPr lang="ar-SA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التحويلات</a:t>
              </a:r>
              <a:r>
                <a:rPr lang="ar-SA" sz="1100" dirty="0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 </a:t>
              </a:r>
              <a:r>
                <a:rPr lang="ar-SA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iro" panose="00000500000000000000" pitchFamily="2" charset="-78"/>
                  <a:cs typeface="Cairo" panose="00000500000000000000" pitchFamily="2" charset="-78"/>
                </a:rPr>
                <a:t>عالية الخطورة</a:t>
              </a:r>
              <a:endParaRPr 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endParaRP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940D68F2-EA05-C4E3-1F5D-CD48BCA0B588}"/>
              </a:ext>
            </a:extLst>
          </p:cNvPr>
          <p:cNvSpPr/>
          <p:nvPr/>
        </p:nvSpPr>
        <p:spPr>
          <a:xfrm>
            <a:off x="4351000" y="1060754"/>
            <a:ext cx="3689067" cy="15696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7184BD0-BF13-100F-D2C1-C989872CA429}"/>
              </a:ext>
            </a:extLst>
          </p:cNvPr>
          <p:cNvSpPr/>
          <p:nvPr/>
        </p:nvSpPr>
        <p:spPr>
          <a:xfrm>
            <a:off x="423891" y="1060753"/>
            <a:ext cx="3855594" cy="15779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F317960-2D53-ADA6-1AE3-C7205558CE87}"/>
              </a:ext>
            </a:extLst>
          </p:cNvPr>
          <p:cNvSpPr/>
          <p:nvPr/>
        </p:nvSpPr>
        <p:spPr>
          <a:xfrm>
            <a:off x="8105778" y="2685447"/>
            <a:ext cx="3662333" cy="1853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E2A8B40-DF89-196F-DC06-59D4F8C8F857}"/>
              </a:ext>
            </a:extLst>
          </p:cNvPr>
          <p:cNvSpPr/>
          <p:nvPr/>
        </p:nvSpPr>
        <p:spPr>
          <a:xfrm>
            <a:off x="4351000" y="2704037"/>
            <a:ext cx="3693684" cy="18310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37E9BF4-AF71-B0E4-8AEB-C341ED4870D7}"/>
              </a:ext>
            </a:extLst>
          </p:cNvPr>
          <p:cNvSpPr/>
          <p:nvPr/>
        </p:nvSpPr>
        <p:spPr>
          <a:xfrm>
            <a:off x="423889" y="2711965"/>
            <a:ext cx="3855596" cy="1824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0" name="Chart 79">
            <a:extLst>
              <a:ext uri="{FF2B5EF4-FFF2-40B4-BE49-F238E27FC236}">
                <a16:creationId xmlns:a16="http://schemas.microsoft.com/office/drawing/2014/main" id="{A970FE3D-CAA3-0051-5102-29D3D43C5E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7500869"/>
              </p:ext>
            </p:extLst>
          </p:nvPr>
        </p:nvGraphicFramePr>
        <p:xfrm>
          <a:off x="5115978" y="1361346"/>
          <a:ext cx="2984775" cy="1288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1" name="TextBox 80">
            <a:extLst>
              <a:ext uri="{FF2B5EF4-FFF2-40B4-BE49-F238E27FC236}">
                <a16:creationId xmlns:a16="http://schemas.microsoft.com/office/drawing/2014/main" id="{CB685F13-543E-DBFD-9406-E90311B963FF}"/>
              </a:ext>
            </a:extLst>
          </p:cNvPr>
          <p:cNvSpPr txBox="1"/>
          <p:nvPr/>
        </p:nvSpPr>
        <p:spPr>
          <a:xfrm>
            <a:off x="1013209" y="1157562"/>
            <a:ext cx="32261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pPr algn="r" rtl="1"/>
            <a:r>
              <a:rPr lang="ar-SA" dirty="0"/>
              <a:t>إحصائيات حوادث الوفيات و الإصابات بالمنطقة:</a:t>
            </a:r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C677533-6CDB-3467-8EA2-8DE0433F4CFD}"/>
              </a:ext>
            </a:extLst>
          </p:cNvPr>
          <p:cNvSpPr txBox="1"/>
          <p:nvPr/>
        </p:nvSpPr>
        <p:spPr>
          <a:xfrm>
            <a:off x="8512091" y="2792747"/>
            <a:ext cx="3257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pPr algn="r" rtl="1"/>
            <a:r>
              <a:rPr lang="ar-SA" dirty="0"/>
              <a:t>عدد أوامر العمل التي تم مراجعتها :</a:t>
            </a:r>
            <a:endParaRPr lang="en-US" dirty="0"/>
          </a:p>
        </p:txBody>
      </p:sp>
      <p:graphicFrame>
        <p:nvGraphicFramePr>
          <p:cNvPr id="86" name="Chart 85">
            <a:extLst>
              <a:ext uri="{FF2B5EF4-FFF2-40B4-BE49-F238E27FC236}">
                <a16:creationId xmlns:a16="http://schemas.microsoft.com/office/drawing/2014/main" id="{55326E46-402F-40F7-676F-2B93DD3A30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5566555"/>
              </p:ext>
            </p:extLst>
          </p:nvPr>
        </p:nvGraphicFramePr>
        <p:xfrm>
          <a:off x="8060143" y="3140956"/>
          <a:ext cx="3527261" cy="1435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DF19FB2C-C3CD-7C09-0C2D-C3BAE21428B4}"/>
              </a:ext>
            </a:extLst>
          </p:cNvPr>
          <p:cNvSpPr txBox="1"/>
          <p:nvPr/>
        </p:nvSpPr>
        <p:spPr>
          <a:xfrm>
            <a:off x="1262271" y="177987"/>
            <a:ext cx="22163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اسم كبير المهندسين: م حســـان الــحلــبي</a:t>
            </a: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C94D13B-427B-02C4-17CC-4C99481A19D6}"/>
              </a:ext>
            </a:extLst>
          </p:cNvPr>
          <p:cNvSpPr/>
          <p:nvPr/>
        </p:nvSpPr>
        <p:spPr>
          <a:xfrm>
            <a:off x="292963" y="143270"/>
            <a:ext cx="3185668" cy="563439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Graphic 99" descr="Research">
            <a:extLst>
              <a:ext uri="{FF2B5EF4-FFF2-40B4-BE49-F238E27FC236}">
                <a16:creationId xmlns:a16="http://schemas.microsoft.com/office/drawing/2014/main" id="{81C9484C-EF77-61A2-F2BB-C122B3E43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0375" y="312116"/>
            <a:ext cx="406404" cy="406404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B45CA345-DB85-4361-CF79-5EE7369A61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5" r="22841" b="40723"/>
          <a:stretch/>
        </p:blipFill>
        <p:spPr>
          <a:xfrm>
            <a:off x="10226363" y="-637799"/>
            <a:ext cx="1772305" cy="1426106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889CFA4A-C8C6-1677-F4CD-839DCD6B67D1}"/>
              </a:ext>
            </a:extLst>
          </p:cNvPr>
          <p:cNvSpPr txBox="1"/>
          <p:nvPr/>
        </p:nvSpPr>
        <p:spPr>
          <a:xfrm>
            <a:off x="8233876" y="1162766"/>
            <a:ext cx="4971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BEA24-1819-A37B-584A-C5B9F6091AAA}"/>
              </a:ext>
            </a:extLst>
          </p:cNvPr>
          <p:cNvSpPr txBox="1"/>
          <p:nvPr/>
        </p:nvSpPr>
        <p:spPr>
          <a:xfrm>
            <a:off x="1245519" y="430769"/>
            <a:ext cx="221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التاريخ:</a:t>
            </a:r>
            <a:r>
              <a:rPr lang="en-US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 03/07/2025</a:t>
            </a:r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5CF45-00B4-E538-1010-CCFC32C71715}"/>
              </a:ext>
            </a:extLst>
          </p:cNvPr>
          <p:cNvSpPr txBox="1"/>
          <p:nvPr/>
        </p:nvSpPr>
        <p:spPr>
          <a:xfrm>
            <a:off x="858537" y="435758"/>
            <a:ext cx="69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شهر :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F4051-897F-4608-4876-D5561B300E59}"/>
              </a:ext>
            </a:extLst>
          </p:cNvPr>
          <p:cNvSpPr/>
          <p:nvPr/>
        </p:nvSpPr>
        <p:spPr>
          <a:xfrm>
            <a:off x="5339176" y="2002564"/>
            <a:ext cx="113316" cy="106936"/>
          </a:xfrm>
          <a:prstGeom prst="rect">
            <a:avLst/>
          </a:prstGeom>
          <a:solidFill>
            <a:srgbClr val="4F7E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81E4BB-A667-E569-32B0-05624577AAE0}"/>
              </a:ext>
            </a:extLst>
          </p:cNvPr>
          <p:cNvSpPr/>
          <p:nvPr/>
        </p:nvSpPr>
        <p:spPr>
          <a:xfrm>
            <a:off x="5337780" y="2126570"/>
            <a:ext cx="113316" cy="106936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326191-9663-51E7-3F6B-D361DA2C9BBF}"/>
              </a:ext>
            </a:extLst>
          </p:cNvPr>
          <p:cNvSpPr/>
          <p:nvPr/>
        </p:nvSpPr>
        <p:spPr>
          <a:xfrm>
            <a:off x="5337780" y="2251034"/>
            <a:ext cx="113316" cy="1069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B19075-7F1B-B136-B79A-92475645CDFF}"/>
              </a:ext>
            </a:extLst>
          </p:cNvPr>
          <p:cNvSpPr/>
          <p:nvPr/>
        </p:nvSpPr>
        <p:spPr>
          <a:xfrm>
            <a:off x="5337780" y="2375298"/>
            <a:ext cx="113316" cy="106936"/>
          </a:xfrm>
          <a:prstGeom prst="rect">
            <a:avLst/>
          </a:prstGeom>
          <a:solidFill>
            <a:srgbClr val="5074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2A86C0-9218-069D-1EFC-27B0F16B94B2}"/>
              </a:ext>
            </a:extLst>
          </p:cNvPr>
          <p:cNvSpPr txBox="1"/>
          <p:nvPr/>
        </p:nvSpPr>
        <p:spPr>
          <a:xfrm>
            <a:off x="4788167" y="2243675"/>
            <a:ext cx="590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رفع أمر </a:t>
            </a:r>
            <a:r>
              <a:rPr lang="ar-SA" dirty="0"/>
              <a:t> 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2CDE9-3C07-C0B8-6CBC-C2D6E9DFDE6B}"/>
              </a:ext>
            </a:extLst>
          </p:cNvPr>
          <p:cNvSpPr txBox="1"/>
          <p:nvPr/>
        </p:nvSpPr>
        <p:spPr>
          <a:xfrm>
            <a:off x="4928796" y="2227311"/>
            <a:ext cx="5323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مغلق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D39F3C-9FB5-9B1E-B3A9-1930FD9C5D1D}"/>
              </a:ext>
            </a:extLst>
          </p:cNvPr>
          <p:cNvSpPr txBox="1"/>
          <p:nvPr/>
        </p:nvSpPr>
        <p:spPr>
          <a:xfrm>
            <a:off x="4485568" y="2081966"/>
            <a:ext cx="9440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المرصودة سابقا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C7C220-3AC0-6845-7F59-89A2B80C21A9}"/>
              </a:ext>
            </a:extLst>
          </p:cNvPr>
          <p:cNvSpPr txBox="1"/>
          <p:nvPr/>
        </p:nvSpPr>
        <p:spPr>
          <a:xfrm>
            <a:off x="4172134" y="1931011"/>
            <a:ext cx="13480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المرصودة هذا الشهر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ABF8ACD-D486-37EA-0344-95DD9B7C2B14}"/>
              </a:ext>
            </a:extLst>
          </p:cNvPr>
          <p:cNvGrpSpPr/>
          <p:nvPr/>
        </p:nvGrpSpPr>
        <p:grpSpPr>
          <a:xfrm>
            <a:off x="609601" y="1519530"/>
            <a:ext cx="3236258" cy="957449"/>
            <a:chOff x="609601" y="1519530"/>
            <a:chExt cx="3236258" cy="849374"/>
          </a:xfrm>
        </p:grpSpPr>
        <p:graphicFrame>
          <p:nvGraphicFramePr>
            <p:cNvPr id="83" name="Chart 82">
              <a:extLst>
                <a:ext uri="{FF2B5EF4-FFF2-40B4-BE49-F238E27FC236}">
                  <a16:creationId xmlns:a16="http://schemas.microsoft.com/office/drawing/2014/main" id="{C81EF514-895C-51D5-8EBF-734C5E88F18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54092345"/>
                </p:ext>
              </p:extLst>
            </p:nvPr>
          </p:nvGraphicFramePr>
          <p:xfrm>
            <a:off x="609601" y="1519901"/>
            <a:ext cx="3236258" cy="84900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5725A2-3232-7BEB-59CA-16416C730611}"/>
                </a:ext>
              </a:extLst>
            </p:cNvPr>
            <p:cNvSpPr txBox="1"/>
            <p:nvPr/>
          </p:nvSpPr>
          <p:spPr>
            <a:xfrm>
              <a:off x="758850" y="1519530"/>
              <a:ext cx="890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SA" dirty="0"/>
                <a:t> </a:t>
              </a:r>
              <a:endParaRPr lang="en-US" dirty="0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16EF7B6-9041-1875-0FBC-7C9C8D24BDD2}"/>
              </a:ext>
            </a:extLst>
          </p:cNvPr>
          <p:cNvSpPr/>
          <p:nvPr/>
        </p:nvSpPr>
        <p:spPr>
          <a:xfrm>
            <a:off x="579001" y="1123795"/>
            <a:ext cx="407663" cy="307777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CBEE2-5285-43F7-DFB4-A9D9EFC884C4}"/>
              </a:ext>
            </a:extLst>
          </p:cNvPr>
          <p:cNvSpPr txBox="1"/>
          <p:nvPr/>
        </p:nvSpPr>
        <p:spPr>
          <a:xfrm>
            <a:off x="534022" y="1142172"/>
            <a:ext cx="497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100</a:t>
            </a:r>
            <a:endParaRPr lang="en-US" sz="16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E04BBF-A3FC-40D8-39FC-42C21321346A}"/>
              </a:ext>
            </a:extLst>
          </p:cNvPr>
          <p:cNvSpPr/>
          <p:nvPr/>
        </p:nvSpPr>
        <p:spPr>
          <a:xfrm>
            <a:off x="8217389" y="2753046"/>
            <a:ext cx="407663" cy="307777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67FDA-5937-F138-CC33-2BAC92505AFF}"/>
              </a:ext>
            </a:extLst>
          </p:cNvPr>
          <p:cNvSpPr txBox="1"/>
          <p:nvPr/>
        </p:nvSpPr>
        <p:spPr>
          <a:xfrm>
            <a:off x="8181777" y="2769697"/>
            <a:ext cx="5960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31</a:t>
            </a:r>
            <a:endParaRPr lang="en-US" sz="16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39F1CB-354C-5BA0-4457-3CEAA0968418}"/>
              </a:ext>
            </a:extLst>
          </p:cNvPr>
          <p:cNvSpPr/>
          <p:nvPr/>
        </p:nvSpPr>
        <p:spPr>
          <a:xfrm>
            <a:off x="423889" y="4599017"/>
            <a:ext cx="11344220" cy="20086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9C89353C-0969-4BF5-303B-6C823DBB66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8295577"/>
              </p:ext>
            </p:extLst>
          </p:nvPr>
        </p:nvGraphicFramePr>
        <p:xfrm>
          <a:off x="4371717" y="2629893"/>
          <a:ext cx="3515611" cy="1876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F656D084-45A0-80A4-18A9-F972E0D8B703}"/>
              </a:ext>
            </a:extLst>
          </p:cNvPr>
          <p:cNvSpPr txBox="1"/>
          <p:nvPr/>
        </p:nvSpPr>
        <p:spPr>
          <a:xfrm>
            <a:off x="5907552" y="3312006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BF0000"/>
                </a:solidFill>
              </a:rPr>
              <a:t>297</a:t>
            </a:r>
            <a:r>
              <a:rPr lang="en-US" sz="1100" dirty="0">
                <a:solidFill>
                  <a:srgbClr val="BF0000"/>
                </a:solidFill>
              </a:rPr>
              <a:t> KM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A1417E9-F803-7603-3C58-D176C91FD4E1}"/>
              </a:ext>
            </a:extLst>
          </p:cNvPr>
          <p:cNvSpPr txBox="1"/>
          <p:nvPr/>
        </p:nvSpPr>
        <p:spPr>
          <a:xfrm>
            <a:off x="6029172" y="3906870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E38D00"/>
                </a:solidFill>
              </a:rPr>
              <a:t>1798.1</a:t>
            </a:r>
            <a:r>
              <a:rPr lang="en-US" sz="1100" dirty="0">
                <a:solidFill>
                  <a:srgbClr val="E38D00"/>
                </a:solidFill>
              </a:rPr>
              <a:t> KM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1D40B0-9B55-141C-B635-BFDBFBD82ED8}"/>
              </a:ext>
            </a:extLst>
          </p:cNvPr>
          <p:cNvSpPr txBox="1"/>
          <p:nvPr/>
        </p:nvSpPr>
        <p:spPr>
          <a:xfrm>
            <a:off x="4456588" y="3048215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87C44F"/>
                </a:solidFill>
              </a:rPr>
              <a:t>139.5</a:t>
            </a:r>
            <a:r>
              <a:rPr lang="en-US" sz="1100" dirty="0">
                <a:solidFill>
                  <a:srgbClr val="87C44F"/>
                </a:solidFill>
              </a:rPr>
              <a:t> KM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092652-704F-6D38-8D16-649419678941}"/>
              </a:ext>
            </a:extLst>
          </p:cNvPr>
          <p:cNvSpPr txBox="1"/>
          <p:nvPr/>
        </p:nvSpPr>
        <p:spPr>
          <a:xfrm>
            <a:off x="4395212" y="4208911"/>
            <a:ext cx="12036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100" dirty="0">
                <a:solidFill>
                  <a:srgbClr val="E0D31D"/>
                </a:solidFill>
              </a:rPr>
              <a:t>1462</a:t>
            </a:r>
            <a:r>
              <a:rPr lang="en-US" sz="1100" dirty="0">
                <a:solidFill>
                  <a:srgbClr val="E0D31D"/>
                </a:solidFill>
              </a:rPr>
              <a:t> KM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0687D2-2DBD-215C-799B-72A1688F1A5B}"/>
              </a:ext>
            </a:extLst>
          </p:cNvPr>
          <p:cNvSpPr txBox="1"/>
          <p:nvPr/>
        </p:nvSpPr>
        <p:spPr>
          <a:xfrm>
            <a:off x="5520196" y="3011316"/>
            <a:ext cx="9891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>
                <a:solidFill>
                  <a:srgbClr val="BF0000"/>
                </a:solidFill>
              </a:defRPr>
            </a:lvl1pPr>
          </a:lstStyle>
          <a:p>
            <a:r>
              <a:rPr lang="ar-SA" b="0" dirty="0">
                <a:solidFill>
                  <a:schemeClr val="tx1"/>
                </a:solidFill>
              </a:rPr>
              <a:t>75.2</a:t>
            </a:r>
            <a:r>
              <a:rPr lang="en-US" b="0" dirty="0">
                <a:solidFill>
                  <a:schemeClr val="tx1"/>
                </a:solidFill>
              </a:rPr>
              <a:t> KM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1F694A-EE70-CA33-2515-0516CD396017}"/>
              </a:ext>
            </a:extLst>
          </p:cNvPr>
          <p:cNvSpPr txBox="1"/>
          <p:nvPr/>
        </p:nvSpPr>
        <p:spPr>
          <a:xfrm>
            <a:off x="2048558" y="2876597"/>
            <a:ext cx="22163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2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حالة وحدات التعداد المروري:</a:t>
            </a:r>
            <a:endParaRPr lang="en-US" sz="12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graphicFrame>
        <p:nvGraphicFramePr>
          <p:cNvPr id="48" name="Chart 47">
            <a:extLst>
              <a:ext uri="{FF2B5EF4-FFF2-40B4-BE49-F238E27FC236}">
                <a16:creationId xmlns:a16="http://schemas.microsoft.com/office/drawing/2014/main" id="{4FEC3951-FF1E-BEC5-C184-49FA82F602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3581822"/>
              </p:ext>
            </p:extLst>
          </p:nvPr>
        </p:nvGraphicFramePr>
        <p:xfrm>
          <a:off x="645896" y="3214532"/>
          <a:ext cx="3289063" cy="1164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2B891140-0736-2EFA-81AE-951AF45A0D47}"/>
              </a:ext>
            </a:extLst>
          </p:cNvPr>
          <p:cNvSpPr txBox="1"/>
          <p:nvPr/>
        </p:nvSpPr>
        <p:spPr>
          <a:xfrm>
            <a:off x="9571598" y="5018457"/>
            <a:ext cx="1880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>
                <a:solidFill>
                  <a:srgbClr val="4F7E70"/>
                </a:solidFill>
              </a:rPr>
              <a:t>عدد المدراس:</a:t>
            </a:r>
            <a:endParaRPr lang="en-US" dirty="0">
              <a:solidFill>
                <a:srgbClr val="4F7E7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F19B17-3637-6EDB-35DF-6BF3B3156B42}"/>
              </a:ext>
            </a:extLst>
          </p:cNvPr>
          <p:cNvSpPr txBox="1"/>
          <p:nvPr/>
        </p:nvSpPr>
        <p:spPr>
          <a:xfrm>
            <a:off x="9804169" y="5379899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المطلوب</a:t>
            </a:r>
            <a:endParaRPr lang="en-US" sz="1050" b="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F56B3C-E23D-EAA5-1A52-244F707E64EC}"/>
              </a:ext>
            </a:extLst>
          </p:cNvPr>
          <p:cNvSpPr txBox="1"/>
          <p:nvPr/>
        </p:nvSpPr>
        <p:spPr>
          <a:xfrm>
            <a:off x="9835963" y="5955803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المنفذ</a:t>
            </a:r>
            <a:endParaRPr lang="en-US" sz="1050" b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464F30-6A25-FBB5-1C28-792229438119}"/>
              </a:ext>
            </a:extLst>
          </p:cNvPr>
          <p:cNvSpPr txBox="1"/>
          <p:nvPr/>
        </p:nvSpPr>
        <p:spPr>
          <a:xfrm>
            <a:off x="6096000" y="5018978"/>
            <a:ext cx="18806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>
                <a:solidFill>
                  <a:srgbClr val="4F7E70"/>
                </a:solidFill>
              </a:rPr>
              <a:t>عدد المنحنيات:</a:t>
            </a:r>
            <a:endParaRPr lang="en-US" dirty="0">
              <a:solidFill>
                <a:srgbClr val="4F7E7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4103089-0437-D8F4-8DD7-026CFF820ED4}"/>
              </a:ext>
            </a:extLst>
          </p:cNvPr>
          <p:cNvSpPr txBox="1"/>
          <p:nvPr/>
        </p:nvSpPr>
        <p:spPr>
          <a:xfrm>
            <a:off x="1417061" y="5017094"/>
            <a:ext cx="2862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>
                <a:solidFill>
                  <a:srgbClr val="4F7E70"/>
                </a:solidFill>
              </a:rPr>
              <a:t>عدد الطرق التي تتطلب تخفيض سرعة :</a:t>
            </a:r>
            <a:endParaRPr lang="en-US" dirty="0">
              <a:solidFill>
                <a:srgbClr val="4F7E70"/>
              </a:solidFill>
            </a:endParaRP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B3F65F41-E677-73FD-3478-B67A3F7271DC}"/>
              </a:ext>
            </a:extLst>
          </p:cNvPr>
          <p:cNvSpPr/>
          <p:nvPr/>
        </p:nvSpPr>
        <p:spPr>
          <a:xfrm>
            <a:off x="9385749" y="5366016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B8F79B3-F351-338A-558E-CC129B3245DF}"/>
              </a:ext>
            </a:extLst>
          </p:cNvPr>
          <p:cNvSpPr txBox="1"/>
          <p:nvPr/>
        </p:nvSpPr>
        <p:spPr>
          <a:xfrm>
            <a:off x="9369442" y="5358276"/>
            <a:ext cx="23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  <a:endParaRPr lang="en-US" sz="14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1A3554E-4D25-C5DC-B1A2-34382D26132A}"/>
              </a:ext>
            </a:extLst>
          </p:cNvPr>
          <p:cNvGrpSpPr/>
          <p:nvPr/>
        </p:nvGrpSpPr>
        <p:grpSpPr>
          <a:xfrm>
            <a:off x="8630213" y="4688290"/>
            <a:ext cx="3076175" cy="282313"/>
            <a:chOff x="4965028" y="4690720"/>
            <a:chExt cx="3076175" cy="28231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03480D8-7961-8B0D-4432-17C644B7B99D}"/>
                </a:ext>
              </a:extLst>
            </p:cNvPr>
            <p:cNvSpPr txBox="1"/>
            <p:nvPr/>
          </p:nvSpPr>
          <p:spPr>
            <a:xfrm>
              <a:off x="5548374" y="4690720"/>
              <a:ext cx="2492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pPr algn="r" rtl="1"/>
              <a:r>
                <a:rPr lang="ar-SA" dirty="0"/>
                <a:t>أولوية التدخل حسب توصيات </a:t>
              </a:r>
              <a:r>
                <a:rPr lang="en-US" dirty="0"/>
                <a:t>IRAP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F21256-E337-A888-D4F9-A246E5239184}"/>
                </a:ext>
              </a:extLst>
            </p:cNvPr>
            <p:cNvSpPr txBox="1"/>
            <p:nvPr/>
          </p:nvSpPr>
          <p:spPr>
            <a:xfrm>
              <a:off x="4965028" y="4696034"/>
              <a:ext cx="8588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 rtl="1"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ar-SA" dirty="0"/>
                <a:t>العاجلة:</a:t>
              </a:r>
              <a:endParaRPr lang="en-US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8F96CDE-6AA2-3443-7B41-CDAAC5BF7466}"/>
              </a:ext>
            </a:extLst>
          </p:cNvPr>
          <p:cNvSpPr txBox="1"/>
          <p:nvPr/>
        </p:nvSpPr>
        <p:spPr>
          <a:xfrm>
            <a:off x="8764462" y="5641509"/>
            <a:ext cx="26344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تم رفع أمر عمل و اعتماده</a:t>
            </a:r>
            <a:endParaRPr lang="en-US" sz="1050" b="0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3123470-C57F-3D1D-02D4-173A2E5C3AA9}"/>
              </a:ext>
            </a:extLst>
          </p:cNvPr>
          <p:cNvSpPr/>
          <p:nvPr/>
        </p:nvSpPr>
        <p:spPr>
          <a:xfrm>
            <a:off x="9385749" y="5671339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9DA673D-2E30-ECE3-C14F-578F7A27A810}"/>
              </a:ext>
            </a:extLst>
          </p:cNvPr>
          <p:cNvSpPr/>
          <p:nvPr/>
        </p:nvSpPr>
        <p:spPr>
          <a:xfrm>
            <a:off x="9390086" y="5968578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5C3DF0A-DCE0-3986-353B-7B7CBF69F0EF}"/>
              </a:ext>
            </a:extLst>
          </p:cNvPr>
          <p:cNvSpPr txBox="1"/>
          <p:nvPr/>
        </p:nvSpPr>
        <p:spPr>
          <a:xfrm>
            <a:off x="9390086" y="5655655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  <a:endParaRPr lang="en-US" sz="14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56DD4F-12D4-9777-A8ED-B64C69A49ACA}"/>
              </a:ext>
            </a:extLst>
          </p:cNvPr>
          <p:cNvSpPr txBox="1"/>
          <p:nvPr/>
        </p:nvSpPr>
        <p:spPr>
          <a:xfrm>
            <a:off x="9379941" y="5953843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  <a:endParaRPr lang="en-US" sz="14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E29897-2349-F24D-C371-79DD84FAE755}"/>
              </a:ext>
            </a:extLst>
          </p:cNvPr>
          <p:cNvSpPr txBox="1"/>
          <p:nvPr/>
        </p:nvSpPr>
        <p:spPr>
          <a:xfrm>
            <a:off x="6200553" y="5324539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المطلوب</a:t>
            </a:r>
            <a:endParaRPr lang="en-US" sz="1050" b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9D0515-DF30-731A-2CFA-7497E3B1C694}"/>
              </a:ext>
            </a:extLst>
          </p:cNvPr>
          <p:cNvSpPr txBox="1"/>
          <p:nvPr/>
        </p:nvSpPr>
        <p:spPr>
          <a:xfrm>
            <a:off x="6232347" y="5900443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المنفذ</a:t>
            </a:r>
            <a:endParaRPr lang="en-US" sz="1050" b="0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D779DAF-AC24-9FDF-F0BD-5A41D2E5A13F}"/>
              </a:ext>
            </a:extLst>
          </p:cNvPr>
          <p:cNvSpPr/>
          <p:nvPr/>
        </p:nvSpPr>
        <p:spPr>
          <a:xfrm>
            <a:off x="5594019" y="5313051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8BF0C0-BC85-C92F-5BD3-7B68C505EBFB}"/>
              </a:ext>
            </a:extLst>
          </p:cNvPr>
          <p:cNvSpPr txBox="1"/>
          <p:nvPr/>
        </p:nvSpPr>
        <p:spPr>
          <a:xfrm>
            <a:off x="5160846" y="5586149"/>
            <a:ext cx="26344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تم رفع أمر عمل و اعتماده</a:t>
            </a:r>
            <a:endParaRPr lang="en-US" sz="1050" b="0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DFDA59C0-81CB-C705-6E81-44F08533C1C9}"/>
              </a:ext>
            </a:extLst>
          </p:cNvPr>
          <p:cNvSpPr/>
          <p:nvPr/>
        </p:nvSpPr>
        <p:spPr>
          <a:xfrm>
            <a:off x="5594019" y="5618374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132860C1-A3DB-84F8-8D0B-CB3963478089}"/>
              </a:ext>
            </a:extLst>
          </p:cNvPr>
          <p:cNvSpPr/>
          <p:nvPr/>
        </p:nvSpPr>
        <p:spPr>
          <a:xfrm>
            <a:off x="5598356" y="5915613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8C27A13-8176-0472-8138-4CE2D3284111}"/>
              </a:ext>
            </a:extLst>
          </p:cNvPr>
          <p:cNvSpPr txBox="1"/>
          <p:nvPr/>
        </p:nvSpPr>
        <p:spPr>
          <a:xfrm>
            <a:off x="2310600" y="5354550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المطلوب</a:t>
            </a:r>
            <a:endParaRPr lang="en-US" sz="1050" b="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4F733E-5FF3-4739-3415-D6D1E93531A1}"/>
              </a:ext>
            </a:extLst>
          </p:cNvPr>
          <p:cNvSpPr txBox="1"/>
          <p:nvPr/>
        </p:nvSpPr>
        <p:spPr>
          <a:xfrm>
            <a:off x="2342394" y="5930454"/>
            <a:ext cx="15784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المنفذ</a:t>
            </a:r>
            <a:endParaRPr lang="en-US" sz="1050" b="0" dirty="0"/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9F83EBAB-6262-09DE-9D39-40D788DB5B4C}"/>
              </a:ext>
            </a:extLst>
          </p:cNvPr>
          <p:cNvSpPr/>
          <p:nvPr/>
        </p:nvSpPr>
        <p:spPr>
          <a:xfrm>
            <a:off x="1737839" y="5366016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9FA4CD4-975D-1A4B-7701-8BDF53AA5352}"/>
              </a:ext>
            </a:extLst>
          </p:cNvPr>
          <p:cNvSpPr txBox="1"/>
          <p:nvPr/>
        </p:nvSpPr>
        <p:spPr>
          <a:xfrm>
            <a:off x="1270893" y="5616160"/>
            <a:ext cx="26344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200" b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1050" b="0" dirty="0"/>
              <a:t>تم رفع أمر عمل و اعتماده</a:t>
            </a:r>
            <a:endParaRPr lang="en-US" sz="1050" b="0" dirty="0"/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A940D0AC-76A5-A633-50AD-F92503FF13B8}"/>
              </a:ext>
            </a:extLst>
          </p:cNvPr>
          <p:cNvSpPr/>
          <p:nvPr/>
        </p:nvSpPr>
        <p:spPr>
          <a:xfrm>
            <a:off x="1737839" y="5671339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658F2120-C61F-C8A7-EABD-E577A6228879}"/>
              </a:ext>
            </a:extLst>
          </p:cNvPr>
          <p:cNvSpPr/>
          <p:nvPr/>
        </p:nvSpPr>
        <p:spPr>
          <a:xfrm>
            <a:off x="1742176" y="5968578"/>
            <a:ext cx="270254" cy="244274"/>
          </a:xfrm>
          <a:prstGeom prst="round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5204CB-F89F-B06D-CE78-6E7A110C704F}"/>
              </a:ext>
            </a:extLst>
          </p:cNvPr>
          <p:cNvSpPr txBox="1"/>
          <p:nvPr/>
        </p:nvSpPr>
        <p:spPr>
          <a:xfrm>
            <a:off x="5579477" y="5295682"/>
            <a:ext cx="23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BD3B72C-801C-CABB-C1DB-22D3CF6BBE85}"/>
              </a:ext>
            </a:extLst>
          </p:cNvPr>
          <p:cNvSpPr txBox="1"/>
          <p:nvPr/>
        </p:nvSpPr>
        <p:spPr>
          <a:xfrm>
            <a:off x="5590299" y="5611095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E2B145-D040-B663-A076-4A64F9AB8CEC}"/>
              </a:ext>
            </a:extLst>
          </p:cNvPr>
          <p:cNvSpPr txBox="1"/>
          <p:nvPr/>
        </p:nvSpPr>
        <p:spPr>
          <a:xfrm>
            <a:off x="5598913" y="5915613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19F2C26-7ABF-DE5B-521F-8C7E690F0A67}"/>
              </a:ext>
            </a:extLst>
          </p:cNvPr>
          <p:cNvSpPr txBox="1"/>
          <p:nvPr/>
        </p:nvSpPr>
        <p:spPr>
          <a:xfrm>
            <a:off x="1732425" y="5342839"/>
            <a:ext cx="23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2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D0BFD67-86D8-EE50-9A8E-49AA890E5BC0}"/>
              </a:ext>
            </a:extLst>
          </p:cNvPr>
          <p:cNvSpPr txBox="1"/>
          <p:nvPr/>
        </p:nvSpPr>
        <p:spPr>
          <a:xfrm>
            <a:off x="1725410" y="5657000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828A372-9A2B-0C07-2C09-96A6DC98B612}"/>
              </a:ext>
            </a:extLst>
          </p:cNvPr>
          <p:cNvSpPr txBox="1"/>
          <p:nvPr/>
        </p:nvSpPr>
        <p:spPr>
          <a:xfrm>
            <a:off x="1744570" y="5963432"/>
            <a:ext cx="229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0</a:t>
            </a: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1D8C3E3A-2F42-29FD-EE73-91686B3883A8}"/>
              </a:ext>
            </a:extLst>
          </p:cNvPr>
          <p:cNvCxnSpPr/>
          <p:nvPr/>
        </p:nvCxnSpPr>
        <p:spPr>
          <a:xfrm>
            <a:off x="8102511" y="5039185"/>
            <a:ext cx="0" cy="1269552"/>
          </a:xfrm>
          <a:prstGeom prst="line">
            <a:avLst/>
          </a:prstGeom>
          <a:ln>
            <a:solidFill>
              <a:srgbClr val="77777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5516153-703E-484F-751E-F2F62B8999FE}"/>
              </a:ext>
            </a:extLst>
          </p:cNvPr>
          <p:cNvCxnSpPr/>
          <p:nvPr/>
        </p:nvCxnSpPr>
        <p:spPr>
          <a:xfrm>
            <a:off x="4351000" y="5017094"/>
            <a:ext cx="0" cy="1269552"/>
          </a:xfrm>
          <a:prstGeom prst="line">
            <a:avLst/>
          </a:prstGeom>
          <a:ln>
            <a:solidFill>
              <a:srgbClr val="77777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3CE8837-F420-E330-FAF4-8A3F93127DB2}"/>
              </a:ext>
            </a:extLst>
          </p:cNvPr>
          <p:cNvGrpSpPr/>
          <p:nvPr/>
        </p:nvGrpSpPr>
        <p:grpSpPr>
          <a:xfrm>
            <a:off x="5292076" y="1150322"/>
            <a:ext cx="2861787" cy="320653"/>
            <a:chOff x="5266085" y="1151304"/>
            <a:chExt cx="3738614" cy="276999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CE1DB29-F6B8-41CE-8ECF-12B2ACC34CBF}"/>
                </a:ext>
              </a:extLst>
            </p:cNvPr>
            <p:cNvSpPr txBox="1"/>
            <p:nvPr/>
          </p:nvSpPr>
          <p:spPr>
            <a:xfrm>
              <a:off x="5801706" y="1151304"/>
              <a:ext cx="32029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ar-SA" dirty="0"/>
                <a:t>عدد ملاحظات السلامة المرصودة</a:t>
              </a:r>
              <a:endParaRPr lang="en-US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CD4FD498-9F75-0E9C-9478-91D6DCB54BD9}"/>
                </a:ext>
              </a:extLst>
            </p:cNvPr>
            <p:cNvSpPr txBox="1"/>
            <p:nvPr/>
          </p:nvSpPr>
          <p:spPr>
            <a:xfrm>
              <a:off x="5266085" y="1157556"/>
              <a:ext cx="688408" cy="239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en-US" dirty="0"/>
                <a:t>SOR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9D9195B-7F8A-DC39-E996-33F4BD977FFF}"/>
              </a:ext>
            </a:extLst>
          </p:cNvPr>
          <p:cNvSpPr txBox="1"/>
          <p:nvPr/>
        </p:nvSpPr>
        <p:spPr>
          <a:xfrm>
            <a:off x="382377" y="443236"/>
            <a:ext cx="795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(يونيو)</a:t>
            </a:r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E64A6F3-D896-BAD8-2CC3-A3BA29AF7C23}"/>
              </a:ext>
            </a:extLst>
          </p:cNvPr>
          <p:cNvGrpSpPr/>
          <p:nvPr/>
        </p:nvGrpSpPr>
        <p:grpSpPr>
          <a:xfrm>
            <a:off x="4825270" y="2757850"/>
            <a:ext cx="3257628" cy="501113"/>
            <a:chOff x="4825270" y="2757850"/>
            <a:chExt cx="3257628" cy="50111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1A93D30-CFD7-6974-C42D-01200CFA24D3}"/>
                </a:ext>
              </a:extLst>
            </p:cNvPr>
            <p:cNvSpPr txBox="1"/>
            <p:nvPr/>
          </p:nvSpPr>
          <p:spPr>
            <a:xfrm>
              <a:off x="4825270" y="2757850"/>
              <a:ext cx="32576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pPr algn="r" rtl="1"/>
              <a:r>
                <a:rPr lang="ar-SA" dirty="0"/>
                <a:t>تقييم شبكة الطرق</a:t>
              </a:r>
              <a:r>
                <a:rPr lang="en-US" dirty="0"/>
                <a:t> </a:t>
              </a:r>
              <a:r>
                <a:rPr lang="ar-SA" dirty="0"/>
                <a:t>بالمنطقة: </a:t>
              </a:r>
              <a:endParaRPr 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F07C84-1C92-C272-8F1D-6F31DCD88467}"/>
                </a:ext>
              </a:extLst>
            </p:cNvPr>
            <p:cNvSpPr txBox="1"/>
            <p:nvPr/>
          </p:nvSpPr>
          <p:spPr>
            <a:xfrm>
              <a:off x="7263608" y="2981964"/>
              <a:ext cx="7818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r" rtl="1">
                <a:defRPr sz="1200" b="1">
                  <a:solidFill>
                    <a:srgbClr val="77777A"/>
                  </a:solidFill>
                  <a:latin typeface="Cairo" panose="00000500000000000000" pitchFamily="2" charset="-78"/>
                  <a:cs typeface="Cairo" panose="00000500000000000000" pitchFamily="2" charset="-78"/>
                </a:defRPr>
              </a:lvl1pPr>
            </a:lstStyle>
            <a:p>
              <a:r>
                <a:rPr lang="en-US" dirty="0"/>
                <a:t>IRAP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1D5DB7-833F-A30A-80CD-C05F8825207A}"/>
              </a:ext>
            </a:extLst>
          </p:cNvPr>
          <p:cNvSpPr txBox="1"/>
          <p:nvPr/>
        </p:nvSpPr>
        <p:spPr>
          <a:xfrm>
            <a:off x="382377" y="6399569"/>
            <a:ext cx="12616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050" b="1" dirty="0">
                <a:solidFill>
                  <a:srgbClr val="BB9D14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صفحة 1</a:t>
            </a:r>
            <a:endParaRPr lang="en-US" sz="1050" b="1" dirty="0">
              <a:solidFill>
                <a:srgbClr val="BB9D14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BFAA7E-BCF3-5335-59FD-1AF67C046C11}"/>
              </a:ext>
            </a:extLst>
          </p:cNvPr>
          <p:cNvSpPr txBox="1"/>
          <p:nvPr/>
        </p:nvSpPr>
        <p:spPr>
          <a:xfrm>
            <a:off x="7111188" y="6404595"/>
            <a:ext cx="4598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050" b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sz="800" b="1" dirty="0">
                <a:solidFill>
                  <a:srgbClr val="BB9D14"/>
                </a:solidFill>
              </a:rPr>
              <a:t>(التفاصيل الإضافية-يتم ذكرها في الصفحة التالية مع الترميز (*,**,***))</a:t>
            </a:r>
            <a:endParaRPr lang="en-US" sz="800" b="1" dirty="0">
              <a:solidFill>
                <a:srgbClr val="BB9D14"/>
              </a:solidFill>
            </a:endParaRPr>
          </a:p>
        </p:txBody>
      </p:sp>
      <p:sp>
        <p:nvSpPr>
          <p:cNvPr id="39" name="مربع نص 38">
            <a:extLst>
              <a:ext uri="{FF2B5EF4-FFF2-40B4-BE49-F238E27FC236}">
                <a16:creationId xmlns:a16="http://schemas.microsoft.com/office/drawing/2014/main" id="{22F32ABE-DFA6-A0A9-6FB7-73D6EBBE6EE0}"/>
              </a:ext>
            </a:extLst>
          </p:cNvPr>
          <p:cNvSpPr txBox="1"/>
          <p:nvPr/>
        </p:nvSpPr>
        <p:spPr>
          <a:xfrm>
            <a:off x="2183369" y="2387181"/>
            <a:ext cx="6464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000" dirty="0"/>
              <a:t>هذا الشهر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82716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DAA7F0E-BA07-5276-E357-5FD06186F0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73A3C6-9900-1BD4-19DB-E77ED59AEC4D}"/>
              </a:ext>
            </a:extLst>
          </p:cNvPr>
          <p:cNvSpPr/>
          <p:nvPr/>
        </p:nvSpPr>
        <p:spPr>
          <a:xfrm>
            <a:off x="292963" y="923278"/>
            <a:ext cx="11606074" cy="5791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33BF1-AFE7-4DAF-79D6-D38743D5A77C}"/>
              </a:ext>
            </a:extLst>
          </p:cNvPr>
          <p:cNvSpPr/>
          <p:nvPr/>
        </p:nvSpPr>
        <p:spPr>
          <a:xfrm>
            <a:off x="10090746" y="323927"/>
            <a:ext cx="77555" cy="382782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B2A19-94E7-8DCE-E43F-EE5D99208AFF}"/>
              </a:ext>
            </a:extLst>
          </p:cNvPr>
          <p:cNvSpPr txBox="1"/>
          <p:nvPr/>
        </p:nvSpPr>
        <p:spPr>
          <a:xfrm>
            <a:off x="4994363" y="336576"/>
            <a:ext cx="5140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بطاقة أداء السلامة </a:t>
            </a:r>
            <a:r>
              <a:rPr lang="ar-SA" b="1" dirty="0">
                <a:solidFill>
                  <a:schemeClr val="bg1"/>
                </a:solidFill>
                <a:cs typeface="Cairo" panose="00000500000000000000" pitchFamily="2" charset="-78"/>
              </a:rPr>
              <a:t>بمنطقة (تبوك)</a:t>
            </a:r>
            <a:endParaRPr lang="en-US" b="1" dirty="0">
              <a:solidFill>
                <a:schemeClr val="bg1"/>
              </a:solidFill>
              <a:cs typeface="Cairo" panose="000005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113CB-C539-2F16-5234-6A66DDC21645}"/>
              </a:ext>
            </a:extLst>
          </p:cNvPr>
          <p:cNvSpPr txBox="1"/>
          <p:nvPr/>
        </p:nvSpPr>
        <p:spPr>
          <a:xfrm>
            <a:off x="1262271" y="177987"/>
            <a:ext cx="221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اسم كبير المهندسين: م حســـان الــحلــبي</a:t>
            </a: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2C7B66-1619-4488-E131-C79788DA6196}"/>
              </a:ext>
            </a:extLst>
          </p:cNvPr>
          <p:cNvSpPr/>
          <p:nvPr/>
        </p:nvSpPr>
        <p:spPr>
          <a:xfrm>
            <a:off x="292963" y="143270"/>
            <a:ext cx="3185668" cy="563439"/>
          </a:xfrm>
          <a:prstGeom prst="rect">
            <a:avLst/>
          </a:prstGeom>
          <a:noFill/>
          <a:ln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 descr="Research">
            <a:extLst>
              <a:ext uri="{FF2B5EF4-FFF2-40B4-BE49-F238E27FC236}">
                <a16:creationId xmlns:a16="http://schemas.microsoft.com/office/drawing/2014/main" id="{FE1D344B-AA21-A082-5036-A96B7439B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0375" y="312116"/>
            <a:ext cx="406404" cy="406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B327E4-EF59-0189-E770-310F09E66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5" r="22841" b="40723"/>
          <a:stretch/>
        </p:blipFill>
        <p:spPr>
          <a:xfrm>
            <a:off x="10226363" y="-637799"/>
            <a:ext cx="1772305" cy="14261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D0858D-9202-1A70-765E-CCFEAEA83312}"/>
              </a:ext>
            </a:extLst>
          </p:cNvPr>
          <p:cNvSpPr txBox="1"/>
          <p:nvPr/>
        </p:nvSpPr>
        <p:spPr>
          <a:xfrm>
            <a:off x="1245519" y="430769"/>
            <a:ext cx="2216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التاريخ:</a:t>
            </a:r>
            <a:r>
              <a:rPr lang="en-US" sz="1100" b="1" dirty="0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 03/07/2025</a:t>
            </a:r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ar-SA" sz="1100" b="1" dirty="0">
              <a:solidFill>
                <a:schemeClr val="bg1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B422B-EB7C-7AB6-1C34-DFA9D536825D}"/>
              </a:ext>
            </a:extLst>
          </p:cNvPr>
          <p:cNvSpPr txBox="1"/>
          <p:nvPr/>
        </p:nvSpPr>
        <p:spPr>
          <a:xfrm>
            <a:off x="858537" y="435758"/>
            <a:ext cx="6913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شهر :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A0DE7F-9738-B28F-9EB9-3F22C0EE19B9}"/>
              </a:ext>
            </a:extLst>
          </p:cNvPr>
          <p:cNvSpPr/>
          <p:nvPr/>
        </p:nvSpPr>
        <p:spPr>
          <a:xfrm>
            <a:off x="6161464" y="1015096"/>
            <a:ext cx="5449510" cy="27411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4B552-960B-471B-EE9C-9F3FB53A795B}"/>
              </a:ext>
            </a:extLst>
          </p:cNvPr>
          <p:cNvSpPr/>
          <p:nvPr/>
        </p:nvSpPr>
        <p:spPr>
          <a:xfrm>
            <a:off x="382377" y="1018825"/>
            <a:ext cx="5648161" cy="2737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4F9E8A-A847-BA17-7051-5D17B904C5BE}"/>
              </a:ext>
            </a:extLst>
          </p:cNvPr>
          <p:cNvSpPr txBox="1"/>
          <p:nvPr/>
        </p:nvSpPr>
        <p:spPr>
          <a:xfrm>
            <a:off x="9808607" y="1246463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اهم تحديات الشهر: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02D78A-6BB6-3E13-23E1-8187B5BF9E3C}"/>
              </a:ext>
            </a:extLst>
          </p:cNvPr>
          <p:cNvSpPr txBox="1"/>
          <p:nvPr/>
        </p:nvSpPr>
        <p:spPr>
          <a:xfrm>
            <a:off x="4207983" y="1246463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اهم إنجازات الشهر: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F07642-012C-006C-86E0-C5826E861263}"/>
              </a:ext>
            </a:extLst>
          </p:cNvPr>
          <p:cNvSpPr txBox="1"/>
          <p:nvPr/>
        </p:nvSpPr>
        <p:spPr>
          <a:xfrm>
            <a:off x="780047" y="1490094"/>
            <a:ext cx="5066259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مراجعه اولية لمخططات تحويلات البحر الاحمر للمرحلة الرابعة.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المتابعة والتوجيه لرفع جودة السلامة بالتحويلات.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رصد عدد 40 ملاحظات سلامة  واعداد التقارير اللازمة.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تجديد تصاريح العمل المنتهية بالتنسيق مع ادارة الصيانة 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رصد 3 ممارسات خاطئة وإصدار تقارير إيقاف ممارسة خاطئة.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نقل المعرفة لمهندس المرور المنضم حديثاً لشركة العايد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الوقوف على فتح وإزالة التحويلات المرورية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عمل جولة ميدانية لطريق المدينة السريع (جار اعداد تقرير الجولة)</a:t>
            </a:r>
            <a:endParaRPr lang="en-US" sz="11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مراجعة مخططات اللوحات لمشروع استكمال ازدواج تبوك – حقل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1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جولة ميدانية لطريق بدا - </a:t>
            </a:r>
            <a:r>
              <a:rPr lang="ar-SA" sz="1100" dirty="0" err="1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النشيفة</a:t>
            </a:r>
            <a:endParaRPr lang="ar-SA" sz="11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ar-SA" sz="12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8F4C6-2B1A-34F0-A64A-FE8429A1EB59}"/>
              </a:ext>
            </a:extLst>
          </p:cNvPr>
          <p:cNvSpPr/>
          <p:nvPr/>
        </p:nvSpPr>
        <p:spPr>
          <a:xfrm>
            <a:off x="382377" y="3829612"/>
            <a:ext cx="5648161" cy="27778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9AE3B-0541-3A91-7039-E0843E063039}"/>
              </a:ext>
            </a:extLst>
          </p:cNvPr>
          <p:cNvSpPr txBox="1"/>
          <p:nvPr/>
        </p:nvSpPr>
        <p:spPr>
          <a:xfrm>
            <a:off x="382377" y="6345896"/>
            <a:ext cx="12616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050" b="1" dirty="0">
                <a:solidFill>
                  <a:srgbClr val="BB9D14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صفحة 2</a:t>
            </a:r>
            <a:endParaRPr lang="en-US" sz="1050" b="1" dirty="0">
              <a:solidFill>
                <a:srgbClr val="BB9D14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7407A-8270-3F22-8E9A-F7A5EACB0102}"/>
              </a:ext>
            </a:extLst>
          </p:cNvPr>
          <p:cNvSpPr/>
          <p:nvPr/>
        </p:nvSpPr>
        <p:spPr>
          <a:xfrm>
            <a:off x="6161464" y="3850394"/>
            <a:ext cx="5449510" cy="27571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B7E937-1DAB-21F1-A24A-67BA6D3E96BB}"/>
              </a:ext>
            </a:extLst>
          </p:cNvPr>
          <p:cNvSpPr txBox="1"/>
          <p:nvPr/>
        </p:nvSpPr>
        <p:spPr>
          <a:xfrm>
            <a:off x="9243689" y="4070616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مستهدفات الشهر القادم: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7447B-AF41-5C41-993B-2F9A70F7C792}"/>
              </a:ext>
            </a:extLst>
          </p:cNvPr>
          <p:cNvSpPr txBox="1"/>
          <p:nvPr/>
        </p:nvSpPr>
        <p:spPr>
          <a:xfrm>
            <a:off x="7122319" y="4490789"/>
            <a:ext cx="4402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2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تكثيف الجولات الميدانية على شبكة الطرق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2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الترتيب مع إدارة السلامة بالفرع لعمل ورشة عمل لتوعية المقاولين بمواصفات تامين مواقع العمل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A" sz="1200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مراجعة مخططات الاعمال التكميلية لربط طريق المدينة السريع بطريق المعظم</a:t>
            </a:r>
          </a:p>
          <a:p>
            <a:pPr algn="r" rtl="1"/>
            <a:endParaRPr lang="ar-SA" sz="12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  <a:p>
            <a:pPr algn="r" rtl="1"/>
            <a:endParaRPr lang="en-US" sz="12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FA252C-A833-86F9-0A4D-D461DC19957A}"/>
              </a:ext>
            </a:extLst>
          </p:cNvPr>
          <p:cNvSpPr txBox="1"/>
          <p:nvPr/>
        </p:nvSpPr>
        <p:spPr>
          <a:xfrm>
            <a:off x="3652141" y="3987036"/>
            <a:ext cx="2216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400" b="1" dirty="0">
                <a:solidFill>
                  <a:srgbClr val="77777A"/>
                </a:solidFill>
                <a:latin typeface="Cairo" panose="00000500000000000000" pitchFamily="2" charset="-78"/>
                <a:cs typeface="Cairo" panose="00000500000000000000" pitchFamily="2" charset="-78"/>
              </a:rPr>
              <a:t>تفاصيل إضافية:</a:t>
            </a:r>
            <a:endParaRPr lang="en-US" sz="1400" b="1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4E5396-6E2A-61F0-3B12-ECA13DED5F84}"/>
              </a:ext>
            </a:extLst>
          </p:cNvPr>
          <p:cNvSpPr txBox="1"/>
          <p:nvPr/>
        </p:nvSpPr>
        <p:spPr>
          <a:xfrm>
            <a:off x="1177717" y="4272146"/>
            <a:ext cx="47249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000012020150	12020150		</a:t>
            </a:r>
            <a:r>
              <a:rPr lang="en-US" sz="1000" dirty="0" err="1"/>
              <a:t>Tabok</a:t>
            </a:r>
            <a:r>
              <a:rPr lang="en-US" sz="1000" dirty="0"/>
              <a:t> to Madina Road	Sensor No. 1</a:t>
            </a:r>
          </a:p>
          <a:p>
            <a:r>
              <a:rPr lang="en-US" sz="1000" dirty="0"/>
              <a:t>000012030052	12030052		Duba to Jordan Road	</a:t>
            </a:r>
          </a:p>
          <a:p>
            <a:r>
              <a:rPr lang="en-US" sz="1000" dirty="0"/>
              <a:t>000012040800	12040800		Duba - Tabuk Road	</a:t>
            </a:r>
          </a:p>
          <a:p>
            <a:r>
              <a:rPr lang="en-US" sz="1000" dirty="0"/>
              <a:t>000012058780	12058780		Tabuk - Sharma Road. 	</a:t>
            </a:r>
          </a:p>
          <a:p>
            <a:r>
              <a:rPr lang="en-US" sz="1000" dirty="0"/>
              <a:t>000012058781	12058781		Sharma - Tabuk Road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77777A"/>
              </a:solidFill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5147AAE-586A-391F-A15B-40287298E7D6}"/>
              </a:ext>
            </a:extLst>
          </p:cNvPr>
          <p:cNvSpPr txBox="1"/>
          <p:nvPr/>
        </p:nvSpPr>
        <p:spPr>
          <a:xfrm>
            <a:off x="382377" y="436092"/>
            <a:ext cx="795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 rtl="1">
              <a:defRPr sz="1100" b="1">
                <a:solidFill>
                  <a:schemeClr val="bg1"/>
                </a:solidFill>
                <a:latin typeface="Cairo" panose="00000500000000000000" pitchFamily="2" charset="-78"/>
                <a:cs typeface="Cairo" panose="00000500000000000000" pitchFamily="2" charset="-78"/>
              </a:defRPr>
            </a:lvl1pPr>
          </a:lstStyle>
          <a:p>
            <a:r>
              <a:rPr lang="ar-SA" dirty="0"/>
              <a:t>(يونيو)</a:t>
            </a:r>
            <a:endParaRPr lang="en-US" dirty="0"/>
          </a:p>
        </p:txBody>
      </p:sp>
      <p:sp>
        <p:nvSpPr>
          <p:cNvPr id="26" name="مستطيل 1">
            <a:extLst>
              <a:ext uri="{FF2B5EF4-FFF2-40B4-BE49-F238E27FC236}">
                <a16:creationId xmlns:a16="http://schemas.microsoft.com/office/drawing/2014/main" id="{CA2688B0-0D97-8A44-3F4C-524B363EDBD5}"/>
              </a:ext>
            </a:extLst>
          </p:cNvPr>
          <p:cNvSpPr/>
          <p:nvPr/>
        </p:nvSpPr>
        <p:spPr>
          <a:xfrm>
            <a:off x="-600799" y="2233063"/>
            <a:ext cx="385011" cy="385011"/>
          </a:xfrm>
          <a:prstGeom prst="rect">
            <a:avLst/>
          </a:prstGeom>
          <a:solidFill>
            <a:srgbClr val="4F7E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7" name="مستطيل 2">
            <a:extLst>
              <a:ext uri="{FF2B5EF4-FFF2-40B4-BE49-F238E27FC236}">
                <a16:creationId xmlns:a16="http://schemas.microsoft.com/office/drawing/2014/main" id="{6C46BB9C-B024-93FF-060A-6F71377AE867}"/>
              </a:ext>
            </a:extLst>
          </p:cNvPr>
          <p:cNvSpPr/>
          <p:nvPr/>
        </p:nvSpPr>
        <p:spPr>
          <a:xfrm>
            <a:off x="-600799" y="3137837"/>
            <a:ext cx="385011" cy="385011"/>
          </a:xfrm>
          <a:prstGeom prst="rect">
            <a:avLst/>
          </a:prstGeom>
          <a:solidFill>
            <a:srgbClr val="7777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8" name="مستطيل 3">
            <a:extLst>
              <a:ext uri="{FF2B5EF4-FFF2-40B4-BE49-F238E27FC236}">
                <a16:creationId xmlns:a16="http://schemas.microsoft.com/office/drawing/2014/main" id="{AEF22CDA-FA47-CFC4-96A4-1E89B1EB8012}"/>
              </a:ext>
            </a:extLst>
          </p:cNvPr>
          <p:cNvSpPr/>
          <p:nvPr/>
        </p:nvSpPr>
        <p:spPr>
          <a:xfrm>
            <a:off x="-600799" y="3590225"/>
            <a:ext cx="385011" cy="385011"/>
          </a:xfrm>
          <a:prstGeom prst="rect">
            <a:avLst/>
          </a:prstGeom>
          <a:solidFill>
            <a:srgbClr val="A593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29" name="مستطيل 4">
            <a:extLst>
              <a:ext uri="{FF2B5EF4-FFF2-40B4-BE49-F238E27FC236}">
                <a16:creationId xmlns:a16="http://schemas.microsoft.com/office/drawing/2014/main" id="{7FDE97ED-CD69-A20B-674E-8B95446619D3}"/>
              </a:ext>
            </a:extLst>
          </p:cNvPr>
          <p:cNvSpPr/>
          <p:nvPr/>
        </p:nvSpPr>
        <p:spPr>
          <a:xfrm>
            <a:off x="-600799" y="4042613"/>
            <a:ext cx="385011" cy="385011"/>
          </a:xfrm>
          <a:prstGeom prst="rect">
            <a:avLst/>
          </a:prstGeom>
          <a:solidFill>
            <a:srgbClr val="A947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0" name="مستطيل 5">
            <a:extLst>
              <a:ext uri="{FF2B5EF4-FFF2-40B4-BE49-F238E27FC236}">
                <a16:creationId xmlns:a16="http://schemas.microsoft.com/office/drawing/2014/main" id="{4A224145-598E-148F-D7B3-918E159393FE}"/>
              </a:ext>
            </a:extLst>
          </p:cNvPr>
          <p:cNvSpPr/>
          <p:nvPr/>
        </p:nvSpPr>
        <p:spPr>
          <a:xfrm>
            <a:off x="-600799" y="4495002"/>
            <a:ext cx="385011" cy="385011"/>
          </a:xfrm>
          <a:prstGeom prst="rect">
            <a:avLst/>
          </a:prstGeom>
          <a:solidFill>
            <a:srgbClr val="5074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  <p:sp>
        <p:nvSpPr>
          <p:cNvPr id="31" name="مستطيل 6">
            <a:extLst>
              <a:ext uri="{FF2B5EF4-FFF2-40B4-BE49-F238E27FC236}">
                <a16:creationId xmlns:a16="http://schemas.microsoft.com/office/drawing/2014/main" id="{D424DF86-4C53-05DD-3A19-AC2EFF73F39F}"/>
              </a:ext>
            </a:extLst>
          </p:cNvPr>
          <p:cNvSpPr/>
          <p:nvPr/>
        </p:nvSpPr>
        <p:spPr>
          <a:xfrm>
            <a:off x="-600799" y="2685448"/>
            <a:ext cx="385011" cy="385011"/>
          </a:xfrm>
          <a:prstGeom prst="rect">
            <a:avLst/>
          </a:prstGeom>
          <a:solidFill>
            <a:srgbClr val="BB9D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algn="ctr" defTabSz="685800" rtl="0" eaLnBrk="1" latinLnBrk="0" hangingPunct="1"/>
            <a:endParaRPr lang="ar-SA" sz="1350">
              <a:latin typeface="Cairo" panose="00000500000000000000" pitchFamily="2" charset="-78"/>
              <a:cs typeface="Cairo" panose="00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775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375</Words>
  <Application>Microsoft Office PowerPoint</Application>
  <PresentationFormat>شاشة عريضة</PresentationFormat>
  <Paragraphs>91</Paragraphs>
  <Slides>2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</vt:i4>
      </vt:variant>
    </vt:vector>
  </HeadingPairs>
  <TitlesOfParts>
    <vt:vector size="7" baseType="lpstr">
      <vt:lpstr>Arial</vt:lpstr>
      <vt:lpstr>Cairo</vt:lpstr>
      <vt:lpstr>Calibri</vt:lpstr>
      <vt:lpstr>Calibri Light</vt:lpstr>
      <vt:lpstr>Office Theme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رغد عبدالله العبيد GBND231197</dc:creator>
  <cp:lastModifiedBy>hassan alhalabi</cp:lastModifiedBy>
  <cp:revision>44</cp:revision>
  <dcterms:created xsi:type="dcterms:W3CDTF">2023-09-14T11:25:53Z</dcterms:created>
  <dcterms:modified xsi:type="dcterms:W3CDTF">2025-07-09T19:21:32Z</dcterms:modified>
</cp:coreProperties>
</file>