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B9D14"/>
    <a:srgbClr val="4F7E70"/>
    <a:srgbClr val="77777A"/>
    <a:srgbClr val="87C44F"/>
    <a:srgbClr val="E0D31D"/>
    <a:srgbClr val="E38D00"/>
    <a:srgbClr val="F99E00"/>
    <a:srgbClr val="BF0000"/>
    <a:srgbClr val="E4CF0D"/>
    <a:srgbClr val="FFF0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841" autoAdjust="0"/>
    <p:restoredTop sz="94660"/>
  </p:normalViewPr>
  <p:slideViewPr>
    <p:cSldViewPr snapToGrid="0" showGuides="1">
      <p:cViewPr varScale="1">
        <p:scale>
          <a:sx n="79" d="100"/>
          <a:sy n="79" d="100"/>
        </p:scale>
        <p:origin x="1267" y="11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التحويلات</c:v>
                </c:pt>
              </c:strCache>
            </c:strRef>
          </c:tx>
          <c:explosion val="2"/>
          <c:dPt>
            <c:idx val="0"/>
            <c:bubble3D val="0"/>
            <c:spPr>
              <a:solidFill>
                <a:srgbClr val="4F7E7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76E-4538-8BC9-01BBEC5EB5F2}"/>
              </c:ext>
            </c:extLst>
          </c:dPt>
          <c:dPt>
            <c:idx val="1"/>
            <c:bubble3D val="0"/>
            <c:spPr>
              <a:solidFill>
                <a:srgbClr val="C0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576E-4538-8BC9-01BBEC5EB5F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bg1"/>
                    </a:solidFill>
                    <a:latin typeface="Cairo" panose="00000500000000000000" pitchFamily="2" charset="-78"/>
                    <a:ea typeface="+mn-ea"/>
                    <a:cs typeface="Cairo" panose="00000500000000000000" pitchFamily="2" charset="-78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عدد التحويلات النظامية</c:v>
                </c:pt>
                <c:pt idx="1">
                  <c:v>عدد التحويلات الخطرة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6E-4538-8BC9-01BBEC5EB5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6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4220732505960119"/>
          <c:y val="7.9740769868794831E-2"/>
          <c:w val="0.74220893808250288"/>
          <c:h val="0.61931396942090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Column3</c:v>
                </c:pt>
              </c:strCache>
            </c:strRef>
          </c:tx>
          <c:spPr>
            <a:solidFill>
              <a:srgbClr val="BB9D14"/>
            </a:solidFill>
            <a:ln>
              <a:noFill/>
            </a:ln>
            <a:effectLst>
              <a:outerShdw blurRad="50800" dist="50800" dir="5400000" sx="1000" sy="1000" algn="ctr" rotWithShape="0">
                <a:srgbClr val="000000">
                  <a:alpha val="43137"/>
                </a:srgbClr>
              </a:outerShdw>
              <a:softEdge rad="0"/>
            </a:effectLst>
          </c:spPr>
          <c:invertIfNegative val="0"/>
          <c:dPt>
            <c:idx val="0"/>
            <c:invertIfNegative val="0"/>
            <c:bubble3D val="0"/>
            <c:spPr>
              <a:solidFill>
                <a:srgbClr val="4F7E70"/>
              </a:solidFill>
              <a:ln>
                <a:noFill/>
              </a:ln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  <a:softEdge rad="0"/>
              </a:effectLst>
            </c:spPr>
            <c:extLst>
              <c:ext xmlns:c16="http://schemas.microsoft.com/office/drawing/2014/chart" uri="{C3380CC4-5D6E-409C-BE32-E72D297353CC}">
                <c16:uniqueId val="{00000005-4F74-44AC-8168-91B57C3CA687}"/>
              </c:ext>
            </c:extLst>
          </c:dPt>
          <c:dPt>
            <c:idx val="2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  <a:softEdge rad="0"/>
              </a:effectLst>
            </c:spPr>
            <c:extLst>
              <c:ext xmlns:c16="http://schemas.microsoft.com/office/drawing/2014/chart" uri="{C3380CC4-5D6E-409C-BE32-E72D297353CC}">
                <c16:uniqueId val="{00000004-4F74-44AC-8168-91B57C3CA687}"/>
              </c:ext>
            </c:extLst>
          </c:dPt>
          <c:dPt>
            <c:idx val="3"/>
            <c:invertIfNegative val="0"/>
            <c:bubble3D val="0"/>
            <c:spPr>
              <a:solidFill>
                <a:srgbClr val="50748A"/>
              </a:solidFill>
              <a:ln>
                <a:noFill/>
              </a:ln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  <a:softEdge rad="0"/>
              </a:effectLst>
            </c:spPr>
            <c:extLst>
              <c:ext xmlns:c16="http://schemas.microsoft.com/office/drawing/2014/chart" uri="{C3380CC4-5D6E-409C-BE32-E72D297353CC}">
                <c16:uniqueId val="{00000005-0B93-4D02-8058-25569FA5CCBA}"/>
              </c:ext>
            </c:extLst>
          </c:dPt>
          <c:dLbls>
            <c:dLbl>
              <c:idx val="0"/>
              <c:layout>
                <c:manualLayout>
                  <c:x val="-7.7844485236001376E-2"/>
                  <c:y val="4.366343058760835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F74-44AC-8168-91B57C3CA687}"/>
                </c:ext>
              </c:extLst>
            </c:dLbl>
            <c:dLbl>
              <c:idx val="1"/>
              <c:layout>
                <c:manualLayout>
                  <c:x val="-7.1496594908654509E-2"/>
                  <c:y val="0.10915857646902086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10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4F3E-49AC-9977-665D83E888FE}"/>
                </c:ext>
              </c:extLst>
            </c:dLbl>
            <c:dLbl>
              <c:idx val="2"/>
              <c:layout>
                <c:manualLayout>
                  <c:x val="-6.7862131706545967E-2"/>
                  <c:y val="9.2315494071485982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4F74-44AC-8168-91B57C3CA687}"/>
                </c:ext>
              </c:extLst>
            </c:dLbl>
            <c:dLbl>
              <c:idx val="3"/>
              <c:layout>
                <c:manualLayout>
                  <c:x val="-7.1061078725195737E-2"/>
                  <c:y val="0.1099149508571526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B93-4D02-8058-25569FA5CCB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iro" panose="00000500000000000000" pitchFamily="2" charset="-78"/>
                    <a:ea typeface="+mn-ea"/>
                    <a:cs typeface="Cairo" panose="00000500000000000000" pitchFamily="2" charset="-78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اجمالي المرصود</c:v>
                </c:pt>
                <c:pt idx="1">
                  <c:v>مرصودة  (هذا الشهر) </c:v>
                </c:pt>
                <c:pt idx="2">
                  <c:v>مغلق  (هذا الشهر)</c:v>
                </c:pt>
                <c:pt idx="3">
                  <c:v>رفع امر  (هذا الشهر)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419</c:v>
                </c:pt>
                <c:pt idx="1">
                  <c:v>40</c:v>
                </c:pt>
                <c:pt idx="2">
                  <c:v>0</c:v>
                </c:pt>
                <c:pt idx="3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3E-49AC-9977-665D83E888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2"/>
        <c:axId val="811955384"/>
        <c:axId val="811957184"/>
      </c:barChart>
      <c:catAx>
        <c:axId val="8119553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iro" panose="00000500000000000000" pitchFamily="2" charset="-78"/>
                <a:ea typeface="+mn-ea"/>
                <a:cs typeface="Cairo" panose="00000500000000000000" pitchFamily="2" charset="-78"/>
              </a:defRPr>
            </a:pPr>
            <a:endParaRPr lang="en-US"/>
          </a:p>
        </c:txPr>
        <c:crossAx val="811957184"/>
        <c:crosses val="autoZero"/>
        <c:auto val="1"/>
        <c:lblAlgn val="ctr"/>
        <c:lblOffset val="100"/>
        <c:noMultiLvlLbl val="0"/>
      </c:catAx>
      <c:valAx>
        <c:axId val="811957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119553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Column3</c:v>
                </c:pt>
              </c:strCache>
            </c:strRef>
          </c:tx>
          <c:spPr>
            <a:solidFill>
              <a:srgbClr val="77777A"/>
            </a:solidFill>
            <a:ln>
              <a:noFill/>
            </a:ln>
            <a:effectLst>
              <a:outerShdw blurRad="50800" dist="50800" dir="5400000" sx="1000" sy="1000" algn="ctr" rotWithShape="0">
                <a:srgbClr val="000000">
                  <a:alpha val="43137"/>
                </a:srgbClr>
              </a:outerShdw>
              <a:softEdge rad="0"/>
            </a:effectLst>
          </c:spPr>
          <c:invertIfNegative val="0"/>
          <c:dPt>
            <c:idx val="1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  <a:softEdge rad="0"/>
              </a:effectLst>
            </c:spPr>
            <c:extLst>
              <c:ext xmlns:c16="http://schemas.microsoft.com/office/drawing/2014/chart" uri="{C3380CC4-5D6E-409C-BE32-E72D297353CC}">
                <c16:uniqueId val="{00000001-92AF-431C-8B3F-3FBE5D85F8B4}"/>
              </c:ext>
            </c:extLst>
          </c:dPt>
          <c:dPt>
            <c:idx val="2"/>
            <c:invertIfNegative val="0"/>
            <c:bubble3D val="0"/>
            <c:spPr>
              <a:solidFill>
                <a:srgbClr val="BB9D14"/>
              </a:solidFill>
              <a:ln>
                <a:noFill/>
              </a:ln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  <a:softEdge rad="0"/>
              </a:effectLst>
            </c:spPr>
            <c:extLst>
              <c:ext xmlns:c16="http://schemas.microsoft.com/office/drawing/2014/chart" uri="{C3380CC4-5D6E-409C-BE32-E72D297353CC}">
                <c16:uniqueId val="{00000000-92AF-431C-8B3F-3FBE5D85F8B4}"/>
              </c:ext>
            </c:extLst>
          </c:dPt>
          <c:dPt>
            <c:idx val="3"/>
            <c:invertIfNegative val="0"/>
            <c:bubble3D val="0"/>
            <c:spPr>
              <a:solidFill>
                <a:srgbClr val="4F7E70"/>
              </a:solidFill>
              <a:ln>
                <a:noFill/>
              </a:ln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  <a:softEdge rad="0"/>
              </a:effectLst>
            </c:spPr>
            <c:extLst>
              <c:ext xmlns:c16="http://schemas.microsoft.com/office/drawing/2014/chart" uri="{C3380CC4-5D6E-409C-BE32-E72D297353CC}">
                <c16:uniqueId val="{00000005-7A7A-4F91-9B62-818D79E55B5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رفض D</c:v>
                </c:pt>
                <c:pt idx="1">
                  <c:v>إعادة تسليم  C</c:v>
                </c:pt>
                <c:pt idx="2">
                  <c:v>موافقة مع وجود ملاحظات B</c:v>
                </c:pt>
                <c:pt idx="3">
                  <c:v>موافقة A </c:v>
                </c:pt>
                <c:pt idx="4">
                  <c:v>عدم ممانعه 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2</c:v>
                </c:pt>
                <c:pt idx="3">
                  <c:v>0</c:v>
                </c:pt>
                <c:pt idx="4">
                  <c:v>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0E9-4512-AE8B-993CA97BCF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2"/>
        <c:overlap val="67"/>
        <c:axId val="811955384"/>
        <c:axId val="811957184"/>
      </c:barChart>
      <c:catAx>
        <c:axId val="81195538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iro" panose="00000500000000000000" pitchFamily="2" charset="-78"/>
                <a:ea typeface="+mn-ea"/>
                <a:cs typeface="Cairo" panose="00000500000000000000" pitchFamily="2" charset="-78"/>
              </a:defRPr>
            </a:pPr>
            <a:endParaRPr lang="en-US"/>
          </a:p>
        </c:txPr>
        <c:crossAx val="811957184"/>
        <c:crosses val="autoZero"/>
        <c:auto val="1"/>
        <c:lblAlgn val="ctr"/>
        <c:lblOffset val="100"/>
        <c:noMultiLvlLbl val="0"/>
      </c:catAx>
      <c:valAx>
        <c:axId val="81195718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119553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3529397223583534"/>
          <c:y val="0.16454594388947977"/>
          <c:w val="0.69773825201822604"/>
          <c:h val="0.4808310453555523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Column3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>
              <a:outerShdw blurRad="50800" dist="50800" dir="5400000" sx="1000" sy="1000" algn="ctr" rotWithShape="0">
                <a:srgbClr val="000000">
                  <a:alpha val="43137"/>
                </a:srgbClr>
              </a:outerShdw>
              <a:softEdge rad="0"/>
            </a:effectLst>
          </c:spPr>
          <c:invertIfNegative val="0"/>
          <c:dPt>
            <c:idx val="0"/>
            <c:invertIfNegative val="0"/>
            <c:bubble3D val="0"/>
            <c:spPr>
              <a:solidFill>
                <a:srgbClr val="BB9D14"/>
              </a:solidFill>
              <a:ln>
                <a:noFill/>
              </a:ln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  <a:softEdge rad="0"/>
              </a:effectLst>
            </c:spPr>
            <c:extLst>
              <c:ext xmlns:c16="http://schemas.microsoft.com/office/drawing/2014/chart" uri="{C3380CC4-5D6E-409C-BE32-E72D297353CC}">
                <c16:uniqueId val="{00000000-3875-4842-A4C0-10EA74AA06E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iro" panose="00000500000000000000" pitchFamily="2" charset="-78"/>
                    <a:ea typeface="+mn-ea"/>
                    <a:cs typeface="Cairo" panose="00000500000000000000" pitchFamily="2" charset="-78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اصابات   </c:v>
                </c:pt>
                <c:pt idx="1">
                  <c:v>وفيات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</c:v>
                </c:pt>
                <c:pt idx="1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C47-4D8E-AA37-1135CAFEDF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2"/>
        <c:overlap val="67"/>
        <c:axId val="811955384"/>
        <c:axId val="811957184"/>
      </c:barChart>
      <c:catAx>
        <c:axId val="81195538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iro" panose="00000500000000000000" pitchFamily="2" charset="-78"/>
                <a:ea typeface="+mn-ea"/>
                <a:cs typeface="Cairo" panose="00000500000000000000" pitchFamily="2" charset="-78"/>
              </a:defRPr>
            </a:pPr>
            <a:endParaRPr lang="en-US"/>
          </a:p>
        </c:txPr>
        <c:crossAx val="811957184"/>
        <c:crosses val="autoZero"/>
        <c:auto val="1"/>
        <c:lblAlgn val="ctr"/>
        <c:lblOffset val="100"/>
        <c:noMultiLvlLbl val="0"/>
      </c:catAx>
      <c:valAx>
        <c:axId val="81195718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119553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482987406213973"/>
          <c:y val="0.31234252496280829"/>
          <c:w val="0.37742671002717071"/>
          <c:h val="0.63350216484838795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tx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6-C5F6-4625-8EE1-973EB3C2FFAE}"/>
              </c:ext>
            </c:extLst>
          </c:dPt>
          <c:dPt>
            <c:idx val="1"/>
            <c:bubble3D val="0"/>
            <c:spPr>
              <a:solidFill>
                <a:srgbClr val="C00000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C5F6-4625-8EE1-973EB3C2FFAE}"/>
              </c:ext>
            </c:extLst>
          </c:dPt>
          <c:dPt>
            <c:idx val="2"/>
            <c:bubble3D val="0"/>
            <c:spPr>
              <a:solidFill>
                <a:srgbClr val="FB9D0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2-C5F6-4625-8EE1-973EB3C2FFAE}"/>
              </c:ext>
            </c:extLst>
          </c:dPt>
          <c:dPt>
            <c:idx val="3"/>
            <c:bubble3D val="0"/>
            <c:spPr>
              <a:solidFill>
                <a:srgbClr val="FFF035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4-C5F6-4625-8EE1-973EB3C2FFAE}"/>
              </c:ext>
            </c:extLst>
          </c:dPt>
          <c:dPt>
            <c:idx val="4"/>
            <c:bubble3D val="0"/>
            <c:spPr>
              <a:solidFill>
                <a:srgbClr val="87C44F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C5F6-4625-8EE1-973EB3C2FFAE}"/>
              </c:ext>
            </c:extLst>
          </c:dPt>
          <c:dLbls>
            <c:dLbl>
              <c:idx val="0"/>
              <c:layout>
                <c:manualLayout>
                  <c:x val="6.5800902994321606E-2"/>
                  <c:y val="-0.2052272517697702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1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B36EE8CF-E664-464C-8F9A-47581E76C052}" type="VALUE">
                      <a:rPr lang="en-US" smtClean="0">
                        <a:solidFill>
                          <a:schemeClr val="tx1"/>
                        </a:solidFill>
                      </a:rPr>
                      <a:pPr>
                        <a:defRPr>
                          <a:solidFill>
                            <a:schemeClr val="tx1"/>
                          </a:solidFill>
                        </a:defRPr>
                      </a:pPr>
                      <a:t>[القيمة]</a:t>
                    </a:fld>
                    <a:endParaRPr 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0253329738006826"/>
                      <c:h val="0.18594520806901341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6-C5F6-4625-8EE1-973EB3C2FFAE}"/>
                </c:ext>
              </c:extLst>
            </c:dLbl>
            <c:dLbl>
              <c:idx val="1"/>
              <c:layout>
                <c:manualLayout>
                  <c:x val="0.12438767799508356"/>
                  <c:y val="-8.3571639115586668E-2"/>
                </c:manualLayout>
              </c:layout>
              <c:tx>
                <c:rich>
                  <a:bodyPr/>
                  <a:lstStyle/>
                  <a:p>
                    <a:fld id="{CFE15802-9B57-4B95-B872-D161B6F39935}" type="VALUE">
                      <a:rPr lang="en-US" smtClean="0">
                        <a:solidFill>
                          <a:srgbClr val="AD0000"/>
                        </a:solidFill>
                      </a:rPr>
                      <a:pPr/>
                      <a:t>[القيمة]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C5F6-4625-8EE1-973EB3C2FFAE}"/>
                </c:ext>
              </c:extLst>
            </c:dLbl>
            <c:dLbl>
              <c:idx val="2"/>
              <c:layout>
                <c:manualLayout>
                  <c:x val="0.17038605319384839"/>
                  <c:y val="-0.13595182749664061"/>
                </c:manualLayout>
              </c:layout>
              <c:tx>
                <c:rich>
                  <a:bodyPr/>
                  <a:lstStyle/>
                  <a:p>
                    <a:fld id="{FB112368-435B-4114-A932-38A4BFDCEFC7}" type="VALUE">
                      <a:rPr lang="en-US" smtClean="0">
                        <a:solidFill>
                          <a:srgbClr val="E38D00"/>
                        </a:solidFill>
                      </a:rPr>
                      <a:pPr/>
                      <a:t>[القيمة]</a:t>
                    </a:fld>
                    <a:r>
                      <a:rPr lang="en-US" baseline="0" dirty="0">
                        <a:solidFill>
                          <a:srgbClr val="E38D00"/>
                        </a:solidFill>
                      </a:rPr>
                      <a:t> 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C5F6-4625-8EE1-973EB3C2FFAE}"/>
                </c:ext>
              </c:extLst>
            </c:dLbl>
            <c:dLbl>
              <c:idx val="3"/>
              <c:layout>
                <c:manualLayout>
                  <c:x val="-7.6330713262518904E-2"/>
                  <c:y val="0.24867503761811127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1" i="0" u="none" strike="noStrike" kern="1200" baseline="0">
                        <a:solidFill>
                          <a:srgbClr val="E4CF0D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1B4618A5-3CEF-4D4F-BE41-BF4DA2DA7B00}" type="VALUE">
                      <a:rPr lang="en-US" smtClean="0">
                        <a:solidFill>
                          <a:srgbClr val="E4CF0D"/>
                        </a:solidFill>
                      </a:rPr>
                      <a:pPr>
                        <a:defRPr>
                          <a:solidFill>
                            <a:srgbClr val="E4CF0D"/>
                          </a:solidFill>
                        </a:defRPr>
                      </a:pPr>
                      <a:t>[القيمة]</a:t>
                    </a:fld>
                    <a:r>
                      <a:rPr lang="en-US" baseline="0" dirty="0">
                        <a:solidFill>
                          <a:srgbClr val="E4CF0D"/>
                        </a:solidFill>
                      </a:rPr>
                      <a:t>, 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1" i="0" u="none" strike="noStrike" kern="1200" baseline="0">
                      <a:solidFill>
                        <a:srgbClr val="E4CF0D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8314122617386161"/>
                      <c:h val="0.18594520806901341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C5F6-4625-8EE1-973EB3C2FFAE}"/>
                </c:ext>
              </c:extLst>
            </c:dLbl>
            <c:dLbl>
              <c:idx val="4"/>
              <c:layout>
                <c:manualLayout>
                  <c:x val="-0.14625812269246169"/>
                  <c:y val="-0.18361529371443069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1" i="0" u="none" strike="noStrike" kern="1200" baseline="0">
                        <a:solidFill>
                          <a:srgbClr val="87C44F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83B0A91E-54EB-4B0B-8011-D884FD52D6A2}" type="VALUE">
                      <a:rPr lang="en-US" smtClean="0">
                        <a:solidFill>
                          <a:srgbClr val="87C44F"/>
                        </a:solidFill>
                      </a:rPr>
                      <a:pPr>
                        <a:defRPr>
                          <a:solidFill>
                            <a:srgbClr val="87C44F"/>
                          </a:solidFill>
                        </a:defRPr>
                      </a:pPr>
                      <a:t>[القيمة]</a:t>
                    </a:fld>
                    <a:endParaRPr 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1" i="0" u="none" strike="noStrike" kern="1200" baseline="0">
                      <a:solidFill>
                        <a:srgbClr val="87C44F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C5F6-4625-8EE1-973EB3C2FFA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1 STAR</c:v>
                </c:pt>
                <c:pt idx="1">
                  <c:v>2 STAR </c:v>
                </c:pt>
                <c:pt idx="2">
                  <c:v>3 STAR</c:v>
                </c:pt>
                <c:pt idx="3">
                  <c:v>4 STAR</c:v>
                </c:pt>
                <c:pt idx="4">
                  <c:v>5 STAR         </c:v>
                </c:pt>
              </c:strCache>
            </c:strRef>
          </c:cat>
          <c:val>
            <c:numRef>
              <c:f>Sheet1!$B$2:$B$6</c:f>
              <c:numCache>
                <c:formatCode>0.00%</c:formatCode>
                <c:ptCount val="5"/>
                <c:pt idx="0">
                  <c:v>0.02</c:v>
                </c:pt>
                <c:pt idx="1">
                  <c:v>7.8E-2</c:v>
                </c:pt>
                <c:pt idx="2">
                  <c:v>0.47</c:v>
                </c:pt>
                <c:pt idx="3">
                  <c:v>0.39</c:v>
                </c:pt>
                <c:pt idx="4">
                  <c:v>3.6999999999999998E-2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F6-4625-8EE1-973EB3C2FFAE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66211240194623966"/>
          <c:y val="0.5616518601709618"/>
          <c:w val="0.33490461226937213"/>
          <c:h val="0.3879781842902169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Column3</c:v>
                </c:pt>
              </c:strCache>
            </c:strRef>
          </c:tx>
          <c:spPr>
            <a:solidFill>
              <a:srgbClr val="77777A"/>
            </a:solidFill>
            <a:ln>
              <a:noFill/>
            </a:ln>
            <a:effectLst>
              <a:outerShdw blurRad="50800" dist="50800" dir="5400000" sx="1000" sy="1000" algn="ctr" rotWithShape="0">
                <a:srgbClr val="000000">
                  <a:alpha val="43137"/>
                </a:srgbClr>
              </a:outerShdw>
              <a:softEdge rad="0"/>
            </a:effectLst>
          </c:spPr>
          <c:invertIfNegative val="0"/>
          <c:dPt>
            <c:idx val="0"/>
            <c:invertIfNegative val="0"/>
            <c:bubble3D val="0"/>
            <c:spPr>
              <a:solidFill>
                <a:srgbClr val="4F7E70"/>
              </a:solidFill>
              <a:ln>
                <a:noFill/>
              </a:ln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  <a:softEdge rad="0"/>
              </a:effectLst>
            </c:spPr>
            <c:extLst>
              <c:ext xmlns:c16="http://schemas.microsoft.com/office/drawing/2014/chart" uri="{C3380CC4-5D6E-409C-BE32-E72D297353CC}">
                <c16:uniqueId val="{00000001-4595-4D2D-B4D0-04069E2B007E}"/>
              </c:ext>
            </c:extLst>
          </c:dPt>
          <c:dPt>
            <c:idx val="1"/>
            <c:invertIfNegative val="0"/>
            <c:bubble3D val="0"/>
            <c:spPr>
              <a:solidFill>
                <a:srgbClr val="BB9D14"/>
              </a:solidFill>
              <a:ln>
                <a:noFill/>
              </a:ln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  <a:softEdge rad="0"/>
              </a:effectLst>
            </c:spPr>
            <c:extLst>
              <c:ext xmlns:c16="http://schemas.microsoft.com/office/drawing/2014/chart" uri="{C3380CC4-5D6E-409C-BE32-E72D297353CC}">
                <c16:uniqueId val="{00000003-4595-4D2D-B4D0-04069E2B007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تعمل</c:v>
                </c:pt>
                <c:pt idx="1">
                  <c:v>تتطلب الى صيانة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595-4D2D-B4D0-04069E2B00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2"/>
        <c:overlap val="67"/>
        <c:axId val="811955384"/>
        <c:axId val="811957184"/>
      </c:barChart>
      <c:catAx>
        <c:axId val="81195538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iro" panose="00000500000000000000" pitchFamily="2" charset="-78"/>
                <a:ea typeface="+mn-ea"/>
                <a:cs typeface="Cairo" panose="00000500000000000000" pitchFamily="2" charset="-78"/>
              </a:defRPr>
            </a:pPr>
            <a:endParaRPr lang="en-US"/>
          </a:p>
        </c:txPr>
        <c:crossAx val="811957184"/>
        <c:crosses val="autoZero"/>
        <c:auto val="1"/>
        <c:lblAlgn val="ctr"/>
        <c:lblOffset val="100"/>
        <c:noMultiLvlLbl val="0"/>
      </c:catAx>
      <c:valAx>
        <c:axId val="81195718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119553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57528-D502-DE36-F5DE-D8E2C0479F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F5C128-11AE-7F6D-FA73-25CD6C95F1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69D809-38CD-CEFA-805E-F77EE2C2E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9A546-E7C8-408D-9840-8400E64023E0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4242B-0B5F-F418-FA83-6B1A491B2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F182B-7969-1AD0-317A-DD7AEBCAA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F6D4B-2DB3-47C3-A3BF-220152D89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966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0704A-2175-8D33-3B8B-BF8BAE54A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E47FEA-1677-F01B-7AC7-C0DA323DF2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C82D63-28BB-2E70-693A-1C6202B2C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9A546-E7C8-408D-9840-8400E64023E0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6F3F1-BD50-A8C2-E086-BF8A7AA27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0DD4B6-F40A-BA0D-2B4B-624CD67BE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F6D4B-2DB3-47C3-A3BF-220152D89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642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661CC-6114-A9D7-3D63-FE94CA04C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58534-20E6-C93F-2369-82C5AC1952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3E2BC-3F60-9714-0276-BCEA9AA42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9A546-E7C8-408D-9840-8400E64023E0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986B3F-8521-6DD5-F9A1-D65724F68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57B070-DA87-E670-32E3-20A8F4BB5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F6D4B-2DB3-47C3-A3BF-220152D89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332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7A21A-2040-E797-499A-3A7E3F129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FDA82B-BD4A-93E4-CDC1-EFA989D1C8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06DBC0-9A74-D731-DEC0-F5EBF9EA7B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1E8E84-01F1-F4D2-1C10-FF15DBB0F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9A546-E7C8-408D-9840-8400E64023E0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CF185-D5E2-84BA-C33F-0CCD7EF9A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763447-6E63-D282-4AE3-0D9F85F31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F6D4B-2DB3-47C3-A3BF-220152D89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864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184A3-B97C-7DF9-4FF0-99423B4A3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EE3A81-5152-BA73-FCF5-8AD67C842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A8BE64-A5C2-99EE-A65E-864337E74A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7EBC88-4027-7A73-2D45-B310F1BA92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A42271-18E4-9F79-D308-1721FD8A1F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514D9F-CCE9-49A1-931D-A54473D8C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9A546-E7C8-408D-9840-8400E64023E0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EC21B1-F9E2-E5CC-6388-68BB05FA8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E382EE-A982-4D92-18E0-A6455F3D5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F6D4B-2DB3-47C3-A3BF-220152D89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39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48A65-8479-219E-61B8-84DE662E0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328D54-68E9-D144-C7A0-D2DF0F0B5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9A546-E7C8-408D-9840-8400E64023E0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1AE74F-122E-511B-CE40-92E8D8EC3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035F67-CDBF-F6D8-7DA8-3CDA828BD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F6D4B-2DB3-47C3-A3BF-220152D89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074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2DBEC0-6B0D-0AF6-311D-BFA8D17BC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9A546-E7C8-408D-9840-8400E64023E0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97BE05-018C-453D-AABB-1FA9BE008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36B1D3-B605-8B5B-76AB-EFE76B46D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F6D4B-2DB3-47C3-A3BF-220152D89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939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15C59-48A2-4205-21B9-F91AEBC7F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620D1-75E0-ABB9-F7FB-2121DD7F49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355B3B-495B-6731-F3C6-D85B8B3AC6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045A99-412F-A2CB-4011-D4D1D0E96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9A546-E7C8-408D-9840-8400E64023E0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4B4499-0200-06F1-7CF4-ED110AE63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67F89E-A423-FC4A-75E4-4F9841ADB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F6D4B-2DB3-47C3-A3BF-220152D89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494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34CBA-ACEB-DC9B-60E9-20D8E1F1F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68E287-D357-9E03-71B3-0AF71E6820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AB3CDF-4C94-BA44-33CB-FC37787D8F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11F6C4-F900-35A1-D705-84DB8BDB3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9A546-E7C8-408D-9840-8400E64023E0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496A9E-89A2-4E6C-5319-71F413495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AA081C-DB6F-E9FC-4064-1C0B278FF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F6D4B-2DB3-47C3-A3BF-220152D89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394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5C27E-FA0A-1921-31C3-D6AEB5C5B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44D707-8583-4579-1CD0-938DB491DC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154FA-8642-3CA0-1484-C9936D9A3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9A546-E7C8-408D-9840-8400E64023E0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09618B-4328-3EFC-B42B-76D615F2D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543723-033E-9CBE-88D9-042971DE6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F6D4B-2DB3-47C3-A3BF-220152D89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010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EF1D8E-FAF5-D3A0-93F4-D24AD4C99B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D2F5DA-0D41-B826-5779-F69D6B42E7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9FFB59-ABCD-DD2F-895B-CDB148612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9A546-E7C8-408D-9840-8400E64023E0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3B97DB-BA8B-F1BC-4236-0FCDA0A89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B7D28-8401-65F4-FF25-CC9E4DB31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F6D4B-2DB3-47C3-A3BF-220152D89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813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99E326-175E-8E7F-BAD9-934991D45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570048-CE5E-F76A-B07C-3C2E5F2282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506152-A84C-8EB0-F966-E9B4F3F10F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B9A546-E7C8-408D-9840-8400E64023E0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FA0F39-93F6-C00C-25D4-83B237FD2F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0EC9E7-BDE3-8A77-C4E2-90A6E0CEDB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6F6D4B-2DB3-47C3-A3BF-220152D89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15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4.xml"/><Relationship Id="rId3" Type="http://schemas.openxmlformats.org/officeDocument/2006/relationships/chart" Target="../charts/chart2.xml"/><Relationship Id="rId7" Type="http://schemas.openxmlformats.org/officeDocument/2006/relationships/image" Target="../media/image3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10" Type="http://schemas.openxmlformats.org/officeDocument/2006/relationships/chart" Target="../charts/chart6.xml"/><Relationship Id="rId4" Type="http://schemas.openxmlformats.org/officeDocument/2006/relationships/chart" Target="../charts/chart3.xml"/><Relationship Id="rId9" Type="http://schemas.openxmlformats.org/officeDocument/2006/relationships/chart" Target="../charts/char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ns4="http://schemas.openxmlformats.org/drawingml/2006/chart" xmlns:ns5="http://schemas.openxmlformats.org/officeDocument/2006/relationships" xmlns:ns6="http://schemas.microsoft.com/office/drawing/2010/main" xmlns:ns7="http://schemas.microsoft.com/office/drawing/2016/SVG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مستطيل 1">
            <a:extLst>
              <a:ext uri="{FF2B5EF4-FFF2-40B4-BE49-F238E27FC236}">
                <ns2:creationId id="{24543BDE-2C20-B026-EC0B-2160D06C83C3}"/>
              </a:ext>
            </a:extLst>
          </p:cNvPr>
          <p:cNvSpPr/>
          <p:nvPr/>
        </p:nvSpPr>
        <p:spPr>
          <a:xfrm>
            <a:off x="-600799" y="2233063"/>
            <a:ext cx="385011" cy="385011"/>
          </a:xfrm>
          <a:prstGeom prst="rect">
            <a:avLst/>
          </a:prstGeom>
          <a:solidFill>
            <a:srgbClr val="4F7E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685800" rtl="0" eaLnBrk="1" latinLnBrk="0" hangingPunct="1"/>
            <a:endParaRPr lang="ar-SA" sz="1350">
              <a:latin typeface="Cairo" panose="00000500000000000000" pitchFamily="2" charset="-78"/>
              <a:cs typeface="Cairo" panose="00000500000000000000" pitchFamily="2" charset="-78"/>
            </a:endParaRPr>
          </a:p>
        </p:txBody>
      </p:sp>
      <p:sp>
        <p:nvSpPr>
          <p:cNvPr id="5" name="مستطيل 2">
            <a:extLst>
              <a:ext uri="{FF2B5EF4-FFF2-40B4-BE49-F238E27FC236}">
                <ns2:creationId id="{FBC3E228-FF74-74FE-A0AD-416DA058788A}"/>
              </a:ext>
            </a:extLst>
          </p:cNvPr>
          <p:cNvSpPr/>
          <p:nvPr/>
        </p:nvSpPr>
        <p:spPr>
          <a:xfrm>
            <a:off x="-600799" y="3137837"/>
            <a:ext cx="385011" cy="385011"/>
          </a:xfrm>
          <a:prstGeom prst="rect">
            <a:avLst/>
          </a:prstGeom>
          <a:solidFill>
            <a:srgbClr val="7777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685800" rtl="0" eaLnBrk="1" latinLnBrk="0" hangingPunct="1"/>
            <a:endParaRPr lang="ar-SA" sz="1350">
              <a:latin typeface="Cairo" panose="00000500000000000000" pitchFamily="2" charset="-78"/>
              <a:cs typeface="Cairo" panose="00000500000000000000" pitchFamily="2" charset="-78"/>
            </a:endParaRPr>
          </a:p>
        </p:txBody>
      </p:sp>
      <p:sp>
        <p:nvSpPr>
          <p:cNvPr id="6" name="مستطيل 3">
            <a:extLst>
              <a:ext uri="{FF2B5EF4-FFF2-40B4-BE49-F238E27FC236}">
                <ns2:creationId id="{7A0010EB-935F-2CDE-DC09-3847F00C78F9}"/>
              </a:ext>
            </a:extLst>
          </p:cNvPr>
          <p:cNvSpPr/>
          <p:nvPr/>
        </p:nvSpPr>
        <p:spPr>
          <a:xfrm>
            <a:off x="-600799" y="3590225"/>
            <a:ext cx="385011" cy="385011"/>
          </a:xfrm>
          <a:prstGeom prst="rect">
            <a:avLst/>
          </a:prstGeom>
          <a:solidFill>
            <a:srgbClr val="A593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685800" rtl="0" eaLnBrk="1" latinLnBrk="0" hangingPunct="1"/>
            <a:endParaRPr lang="ar-SA" sz="1350">
              <a:latin typeface="Cairo" panose="00000500000000000000" pitchFamily="2" charset="-78"/>
              <a:cs typeface="Cairo" panose="00000500000000000000" pitchFamily="2" charset="-78"/>
            </a:endParaRPr>
          </a:p>
        </p:txBody>
      </p:sp>
      <p:sp>
        <p:nvSpPr>
          <p:cNvPr id="7" name="مستطيل 4">
            <a:extLst>
              <a:ext uri="{FF2B5EF4-FFF2-40B4-BE49-F238E27FC236}">
                <ns2:creationId id="{1D030F5A-D464-243B-EA18-E70C8F4EB297}"/>
              </a:ext>
            </a:extLst>
          </p:cNvPr>
          <p:cNvSpPr/>
          <p:nvPr/>
        </p:nvSpPr>
        <p:spPr>
          <a:xfrm>
            <a:off x="-600799" y="4042613"/>
            <a:ext cx="385011" cy="385011"/>
          </a:xfrm>
          <a:prstGeom prst="rect">
            <a:avLst/>
          </a:prstGeom>
          <a:solidFill>
            <a:srgbClr val="A947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685800" rtl="0" eaLnBrk="1" latinLnBrk="0" hangingPunct="1"/>
            <a:endParaRPr lang="ar-SA" sz="1350">
              <a:latin typeface="Cairo" panose="00000500000000000000" pitchFamily="2" charset="-78"/>
              <a:cs typeface="Cairo" panose="00000500000000000000" pitchFamily="2" charset="-78"/>
            </a:endParaRPr>
          </a:p>
        </p:txBody>
      </p:sp>
      <p:sp>
        <p:nvSpPr>
          <p:cNvPr id="8" name="مستطيل 5">
            <a:extLst>
              <a:ext uri="{FF2B5EF4-FFF2-40B4-BE49-F238E27FC236}">
                <ns2:creationId id="{8BA37EA0-2DAE-C2D7-843C-B27B5C8EBC72}"/>
              </a:ext>
            </a:extLst>
          </p:cNvPr>
          <p:cNvSpPr/>
          <p:nvPr/>
        </p:nvSpPr>
        <p:spPr>
          <a:xfrm>
            <a:off x="-600799" y="4495002"/>
            <a:ext cx="385011" cy="385011"/>
          </a:xfrm>
          <a:prstGeom prst="rect">
            <a:avLst/>
          </a:prstGeom>
          <a:solidFill>
            <a:srgbClr val="5074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685800" rtl="0" eaLnBrk="1" latinLnBrk="0" hangingPunct="1"/>
            <a:endParaRPr lang="ar-SA" sz="1350">
              <a:latin typeface="Cairo" panose="00000500000000000000" pitchFamily="2" charset="-78"/>
              <a:cs typeface="Cairo" panose="00000500000000000000" pitchFamily="2" charset="-78"/>
            </a:endParaRPr>
          </a:p>
        </p:txBody>
      </p:sp>
      <p:sp>
        <p:nvSpPr>
          <p:cNvPr id="9" name="مستطيل 6">
            <a:extLst>
              <a:ext uri="{FF2B5EF4-FFF2-40B4-BE49-F238E27FC236}">
                <ns2:creationId id="{EB95968B-0F25-6E3A-EB2F-FE863CA207BE}"/>
              </a:ext>
            </a:extLst>
          </p:cNvPr>
          <p:cNvSpPr/>
          <p:nvPr/>
        </p:nvSpPr>
        <p:spPr>
          <a:xfrm>
            <a:off x="-600799" y="2685448"/>
            <a:ext cx="385011" cy="385011"/>
          </a:xfrm>
          <a:prstGeom prst="rect">
            <a:avLst/>
          </a:prstGeom>
          <a:solidFill>
            <a:srgbClr val="BB9D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685800" rtl="0" eaLnBrk="1" latinLnBrk="0" hangingPunct="1"/>
            <a:endParaRPr lang="ar-SA" sz="1350">
              <a:latin typeface="Cairo" panose="00000500000000000000" pitchFamily="2" charset="-78"/>
              <a:cs typeface="Cairo" panose="00000500000000000000" pitchFamily="2" charset="-78"/>
            </a:endParaRPr>
          </a:p>
        </p:txBody>
      </p:sp>
      <p:sp>
        <p:nvSpPr>
          <p:cNvPr id="10" name="Rectangle 9">
            <a:extLst>
              <a:ext uri="{FF2B5EF4-FFF2-40B4-BE49-F238E27FC236}">
                <ns2:creationId id="{796B1A80-803F-DBF8-3BD7-8EB4A6870D5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777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ns2:creationId id="{47DC0359-0044-A3FF-3001-7AB7C04FE365}"/>
              </a:ext>
            </a:extLst>
          </p:cNvPr>
          <p:cNvSpPr/>
          <p:nvPr/>
        </p:nvSpPr>
        <p:spPr>
          <a:xfrm>
            <a:off x="10090746" y="323927"/>
            <a:ext cx="77555" cy="382782"/>
          </a:xfrm>
          <a:prstGeom prst="rect">
            <a:avLst/>
          </a:prstGeom>
          <a:solidFill>
            <a:srgbClr val="BB9D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ns2:creationId id="{4E9F0D7C-8771-7C7C-6555-976EA37CE3E0}"/>
              </a:ext>
            </a:extLst>
          </p:cNvPr>
          <p:cNvSpPr txBox="1"/>
          <p:nvPr/>
        </p:nvSpPr>
        <p:spPr>
          <a:xfrm>
            <a:off x="4994363" y="336576"/>
            <a:ext cx="5140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SA" b="1" dirty="0">
                <a:solidFill>
                  <a:schemeClr val="bg1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بطاقة أداء السلامة </a:t>
            </a:r>
            <a:r>
              <a:rPr lang="ar-SA" b="1" dirty="0">
                <a:solidFill>
                  <a:schemeClr val="bg1"/>
                </a:solidFill>
                <a:cs typeface="Cairo" panose="00000500000000000000" pitchFamily="2" charset="-78"/>
              </a:rPr>
              <a:t>بمنطقة (تبوك)</a:t>
            </a:r>
            <a:endParaRPr lang="en-US" b="1" dirty="0">
              <a:solidFill>
                <a:schemeClr val="bg1"/>
              </a:solidFill>
              <a:cs typeface="Cairo" panose="00000500000000000000" pitchFamily="2" charset="-78"/>
            </a:endParaRPr>
          </a:p>
        </p:txBody>
      </p:sp>
      <p:sp>
        <p:nvSpPr>
          <p:cNvPr id="52" name="Rectangle 51">
            <a:extLst>
              <a:ext uri="{FF2B5EF4-FFF2-40B4-BE49-F238E27FC236}">
                <ns2:creationId id="{E63A3DE1-FB1E-B1C6-557E-15E3E448F8B0}"/>
              </a:ext>
            </a:extLst>
          </p:cNvPr>
          <p:cNvSpPr/>
          <p:nvPr/>
        </p:nvSpPr>
        <p:spPr>
          <a:xfrm>
            <a:off x="292963" y="923278"/>
            <a:ext cx="11606074" cy="57914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ns2:creationId id="{DC754F06-B133-0D18-46EB-6EFB90C409A9}"/>
              </a:ext>
            </a:extLst>
          </p:cNvPr>
          <p:cNvSpPr/>
          <p:nvPr/>
        </p:nvSpPr>
        <p:spPr>
          <a:xfrm>
            <a:off x="8105778" y="1048409"/>
            <a:ext cx="3662333" cy="15696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TextBox 56">
            <a:extLst>
              <a:ext uri="{FF2B5EF4-FFF2-40B4-BE49-F238E27FC236}">
                <ns2:creationId id="{7FB4EAEB-2A97-97D8-AB19-A3009397515A}"/>
              </a:ext>
            </a:extLst>
          </p:cNvPr>
          <p:cNvSpPr txBox="1"/>
          <p:nvPr/>
        </p:nvSpPr>
        <p:spPr>
          <a:xfrm>
            <a:off x="8512091" y="1123795"/>
            <a:ext cx="32560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1200" b="1" dirty="0">
                <a:solidFill>
                  <a:srgbClr val="77777A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إحصائيات التحويلات المرورية ومناطق العمل لآخر اسبوع:</a:t>
            </a:r>
            <a:endParaRPr lang="en-US" sz="1200" b="1" dirty="0">
              <a:solidFill>
                <a:srgbClr val="77777A"/>
              </a:solidFill>
              <a:latin typeface="Cairo" panose="00000500000000000000" pitchFamily="2" charset="-78"/>
              <a:cs typeface="Cairo" panose="00000500000000000000" pitchFamily="2" charset="-78"/>
            </a:endParaRPr>
          </a:p>
        </p:txBody>
      </p:sp>
      <p:sp>
        <p:nvSpPr>
          <p:cNvPr id="58" name="Rectangle 57">
            <a:extLst>
              <a:ext uri="{FF2B5EF4-FFF2-40B4-BE49-F238E27FC236}">
                <ns2:creationId id="{250ED24B-C69A-4CD9-013C-6752BF9A9E52}"/>
              </a:ext>
            </a:extLst>
          </p:cNvPr>
          <p:cNvSpPr/>
          <p:nvPr/>
        </p:nvSpPr>
        <p:spPr>
          <a:xfrm>
            <a:off x="8242548" y="1142171"/>
            <a:ext cx="407663" cy="307777"/>
          </a:xfrm>
          <a:prstGeom prst="rect">
            <a:avLst/>
          </a:prstGeom>
          <a:solidFill>
            <a:srgbClr val="BB9D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2" name="Chart 61">
            <a:extLst>
              <a:ext uri="{FF2B5EF4-FFF2-40B4-BE49-F238E27FC236}">
                <ns2:creationId id="{AB58640E-BD24-A728-FA11-CDAF879287E2}"/>
              </a:ext>
            </a:extLst>
          </p:cNvPr>
          <p:cNvGraphicFramePr/>
          <p:nvPr>
            <p:extLst>
              <p:ext uri="{D42A27DB-BD31-4B8C-83A1-F6EECF244321}">
                <ns3:modId val="853110782"/>
              </p:ext>
            </p:extLst>
          </p:nvPr>
        </p:nvGraphicFramePr>
        <p:xfrm>
          <a:off x="9581847" y="1404742"/>
          <a:ext cx="2098741" cy="1393402"/>
        </p:xfrm>
        <a:graphic>
          <a:graphicData uri="http://schemas.openxmlformats.org/drawingml/2006/chart">
            <ns4:chart ns5:id="rId2"/>
          </a:graphicData>
        </a:graphic>
      </p:graphicFrame>
      <p:grpSp>
        <p:nvGrpSpPr>
          <p:cNvPr id="69" name="Group 68">
            <a:extLst>
              <a:ext uri="{FF2B5EF4-FFF2-40B4-BE49-F238E27FC236}">
                <ns2:creationId id="{8CC53446-5D06-AF5E-3793-6901501E11C8}"/>
              </a:ext>
            </a:extLst>
          </p:cNvPr>
          <p:cNvGrpSpPr/>
          <p:nvPr/>
        </p:nvGrpSpPr>
        <p:grpSpPr>
          <a:xfrm>
            <a:off x="7957417" y="1821164"/>
            <a:ext cx="1608311" cy="684710"/>
            <a:chOff x="7836245" y="2977967"/>
            <a:chExt cx="2083165" cy="700107"/>
          </a:xfrm>
        </p:grpSpPr>
        <p:sp>
          <p:nvSpPr>
            <p:cNvPr id="65" name="Rectangle 64">
              <a:extLst>
                <a:ext uri="{FF2B5EF4-FFF2-40B4-BE49-F238E27FC236}">
                  <ns2:creationId id="{AB522A7A-0E75-8357-1173-ECDE32371591}"/>
                </a:ext>
              </a:extLst>
            </p:cNvPr>
            <p:cNvSpPr/>
            <p:nvPr/>
          </p:nvSpPr>
          <p:spPr>
            <a:xfrm>
              <a:off x="9705520" y="2977967"/>
              <a:ext cx="213890" cy="185768"/>
            </a:xfrm>
            <a:prstGeom prst="rect">
              <a:avLst/>
            </a:prstGeom>
            <a:solidFill>
              <a:srgbClr val="4F7E7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ns2:creationId id="{768DC554-4F6B-4EE5-EBD2-691608B265BF}"/>
                </a:ext>
              </a:extLst>
            </p:cNvPr>
            <p:cNvSpPr/>
            <p:nvPr/>
          </p:nvSpPr>
          <p:spPr>
            <a:xfrm>
              <a:off x="9705520" y="3343183"/>
              <a:ext cx="213890" cy="185768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TextBox 66">
              <a:extLst>
                <a:ext uri="{FF2B5EF4-FFF2-40B4-BE49-F238E27FC236}">
                  <ns2:creationId id="{BB6131FC-FF73-9E25-E7F0-086AD16BB3EA}"/>
                </a:ext>
              </a:extLst>
            </p:cNvPr>
            <p:cNvSpPr txBox="1"/>
            <p:nvPr/>
          </p:nvSpPr>
          <p:spPr>
            <a:xfrm>
              <a:off x="7965139" y="2990317"/>
              <a:ext cx="1853871" cy="236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8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iro" panose="00000500000000000000" pitchFamily="2" charset="-78"/>
                  <a:cs typeface="Cairo" panose="00000500000000000000" pitchFamily="2" charset="-78"/>
                </a:defRPr>
              </a:lvl1pPr>
            </a:lstStyle>
            <a:p>
              <a:r>
                <a:rPr lang="ar-SA" sz="900" dirty="0"/>
                <a:t>عدد التحويلات النظامية</a:t>
              </a:r>
              <a:endParaRPr lang="en-US" sz="900" dirty="0"/>
            </a:p>
          </p:txBody>
        </p:sp>
        <p:sp>
          <p:nvSpPr>
            <p:cNvPr id="68" name="TextBox 67">
              <a:extLst>
                <a:ext uri="{FF2B5EF4-FFF2-40B4-BE49-F238E27FC236}">
                  <ns2:creationId id="{DD2E7F88-F2E3-3CF5-FADA-10ED2C4D987D}"/>
                </a:ext>
              </a:extLst>
            </p:cNvPr>
            <p:cNvSpPr txBox="1"/>
            <p:nvPr/>
          </p:nvSpPr>
          <p:spPr>
            <a:xfrm>
              <a:off x="7836245" y="3268967"/>
              <a:ext cx="1890172" cy="409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SA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iro" panose="00000500000000000000" pitchFamily="2" charset="-78"/>
                  <a:cs typeface="Cairo" panose="00000500000000000000" pitchFamily="2" charset="-78"/>
                </a:rPr>
                <a:t>عدد</a:t>
              </a:r>
              <a:r>
                <a:rPr lang="ar-SA" sz="1100" dirty="0">
                  <a:solidFill>
                    <a:srgbClr val="77777A"/>
                  </a:solidFill>
                  <a:latin typeface="Cairo" panose="00000500000000000000" pitchFamily="2" charset="-78"/>
                  <a:cs typeface="Cairo" panose="00000500000000000000" pitchFamily="2" charset="-78"/>
                </a:rPr>
                <a:t> </a:t>
              </a:r>
              <a:r>
                <a:rPr lang="ar-SA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iro" panose="00000500000000000000" pitchFamily="2" charset="-78"/>
                  <a:cs typeface="Cairo" panose="00000500000000000000" pitchFamily="2" charset="-78"/>
                </a:rPr>
                <a:t>التحويلات</a:t>
              </a:r>
              <a:r>
                <a:rPr lang="ar-SA" sz="1100" dirty="0">
                  <a:solidFill>
                    <a:srgbClr val="77777A"/>
                  </a:solidFill>
                  <a:latin typeface="Cairo" panose="00000500000000000000" pitchFamily="2" charset="-78"/>
                  <a:cs typeface="Cairo" panose="00000500000000000000" pitchFamily="2" charset="-78"/>
                </a:rPr>
                <a:t> </a:t>
              </a:r>
              <a:r>
                <a:rPr lang="ar-SA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iro" panose="00000500000000000000" pitchFamily="2" charset="-78"/>
                  <a:cs typeface="Cairo" panose="00000500000000000000" pitchFamily="2" charset="-78"/>
                </a:rPr>
                <a:t>عالية الخطورة</a:t>
              </a:r>
              <a:endParaRPr 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Cairo" panose="00000500000000000000" pitchFamily="2" charset="-78"/>
                <a:cs typeface="Cairo" panose="00000500000000000000" pitchFamily="2" charset="-78"/>
              </a:endParaRPr>
            </a:p>
          </p:txBody>
        </p:sp>
      </p:grpSp>
      <p:sp>
        <p:nvSpPr>
          <p:cNvPr id="70" name="Rectangle 69">
            <a:extLst>
              <a:ext uri="{FF2B5EF4-FFF2-40B4-BE49-F238E27FC236}">
                <ns2:creationId id="{940D68F2-EA05-C4E3-1F5D-CD48BCA0B588}"/>
              </a:ext>
            </a:extLst>
          </p:cNvPr>
          <p:cNvSpPr/>
          <p:nvPr/>
        </p:nvSpPr>
        <p:spPr>
          <a:xfrm>
            <a:off x="4351000" y="1060754"/>
            <a:ext cx="3689067" cy="15696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ns2:creationId id="{97184BD0-BF13-100F-D2C1-C989872CA429}"/>
              </a:ext>
            </a:extLst>
          </p:cNvPr>
          <p:cNvSpPr/>
          <p:nvPr/>
        </p:nvSpPr>
        <p:spPr>
          <a:xfrm>
            <a:off x="423891" y="1060753"/>
            <a:ext cx="3855594" cy="15779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ns2:creationId id="{BF317960-2D53-ADA6-1AE3-C7205558CE87}"/>
              </a:ext>
            </a:extLst>
          </p:cNvPr>
          <p:cNvSpPr/>
          <p:nvPr/>
        </p:nvSpPr>
        <p:spPr>
          <a:xfrm>
            <a:off x="8105778" y="2685447"/>
            <a:ext cx="3662333" cy="18531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ns2:creationId id="{8E2A8B40-DF89-196F-DC06-59D4F8C8F857}"/>
              </a:ext>
            </a:extLst>
          </p:cNvPr>
          <p:cNvSpPr/>
          <p:nvPr/>
        </p:nvSpPr>
        <p:spPr>
          <a:xfrm>
            <a:off x="4351000" y="2704037"/>
            <a:ext cx="3693684" cy="183108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ns2:creationId id="{C37E9BF4-AF71-B0E4-8AEB-C341ED4870D7}"/>
              </a:ext>
            </a:extLst>
          </p:cNvPr>
          <p:cNvSpPr/>
          <p:nvPr/>
        </p:nvSpPr>
        <p:spPr>
          <a:xfrm>
            <a:off x="423889" y="2711965"/>
            <a:ext cx="3855596" cy="18246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0" name="Chart 79">
            <a:extLst>
              <a:ext uri="{FF2B5EF4-FFF2-40B4-BE49-F238E27FC236}">
                <ns2:creationId id="{A970FE3D-CAA3-0051-5102-29D3D43C5E8D}"/>
              </a:ext>
            </a:extLst>
          </p:cNvPr>
          <p:cNvGraphicFramePr/>
          <p:nvPr>
            <p:extLst>
              <p:ext uri="{D42A27DB-BD31-4B8C-83A1-F6EECF244321}">
                <ns3:modId val="3327500869"/>
              </p:ext>
            </p:extLst>
          </p:nvPr>
        </p:nvGraphicFramePr>
        <p:xfrm>
          <a:off x="5115978" y="1361346"/>
          <a:ext cx="2984775" cy="1288135"/>
        </p:xfrm>
        <a:graphic>
          <a:graphicData uri="http://schemas.openxmlformats.org/drawingml/2006/chart">
            <ns4:chart ns5:id="rId3"/>
          </a:graphicData>
        </a:graphic>
      </p:graphicFrame>
      <p:sp>
        <p:nvSpPr>
          <p:cNvPr id="81" name="TextBox 80">
            <a:extLst>
              <a:ext uri="{FF2B5EF4-FFF2-40B4-BE49-F238E27FC236}">
                <ns2:creationId id="{CB685F13-543E-DBFD-9406-E90311B963FF}"/>
              </a:ext>
            </a:extLst>
          </p:cNvPr>
          <p:cNvSpPr txBox="1"/>
          <p:nvPr/>
        </p:nvSpPr>
        <p:spPr>
          <a:xfrm>
            <a:off x="1013209" y="1157562"/>
            <a:ext cx="32261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 b="1">
                <a:solidFill>
                  <a:srgbClr val="77777A"/>
                </a:solidFill>
                <a:latin typeface="Cairo" panose="00000500000000000000" pitchFamily="2" charset="-78"/>
                <a:cs typeface="Cairo" panose="00000500000000000000" pitchFamily="2" charset="-78"/>
              </a:defRPr>
            </a:lvl1pPr>
          </a:lstStyle>
          <a:p>
            <a:pPr algn="r" rtl="1"/>
            <a:r>
              <a:rPr lang="ar-SA" dirty="0"/>
              <a:t>إحصائيات حوادث الوفيات و الإصابات بالمنطقة:</a:t>
            </a:r>
            <a:endParaRPr lang="en-US" dirty="0"/>
          </a:p>
        </p:txBody>
      </p:sp>
      <p:sp>
        <p:nvSpPr>
          <p:cNvPr id="85" name="TextBox 84">
            <a:extLst>
              <a:ext uri="{FF2B5EF4-FFF2-40B4-BE49-F238E27FC236}">
                <ns2:creationId id="{EC677533-6CDB-3467-8EA2-8DE0433F4CFD}"/>
              </a:ext>
            </a:extLst>
          </p:cNvPr>
          <p:cNvSpPr txBox="1"/>
          <p:nvPr/>
        </p:nvSpPr>
        <p:spPr>
          <a:xfrm>
            <a:off x="8512091" y="2792747"/>
            <a:ext cx="32576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 b="1">
                <a:solidFill>
                  <a:srgbClr val="77777A"/>
                </a:solidFill>
                <a:latin typeface="Cairo" panose="00000500000000000000" pitchFamily="2" charset="-78"/>
                <a:cs typeface="Cairo" panose="00000500000000000000" pitchFamily="2" charset="-78"/>
              </a:defRPr>
            </a:lvl1pPr>
          </a:lstStyle>
          <a:p>
            <a:pPr algn="r" rtl="1"/>
            <a:r>
              <a:rPr lang="ar-SA" dirty="0"/>
              <a:t>عدد أوامر العمل التي تم مراجعتها :</a:t>
            </a:r>
            <a:endParaRPr lang="en-US" dirty="0"/>
          </a:p>
        </p:txBody>
      </p:sp>
      <p:graphicFrame>
        <p:nvGraphicFramePr>
          <p:cNvPr id="86" name="Chart 85">
            <a:extLst>
              <a:ext uri="{FF2B5EF4-FFF2-40B4-BE49-F238E27FC236}">
                <ns2:creationId id="{55326E46-402F-40F7-676F-2B93DD3A30F3}"/>
              </a:ext>
            </a:extLst>
          </p:cNvPr>
          <p:cNvGraphicFramePr/>
          <p:nvPr>
            <p:extLst>
              <p:ext uri="{D42A27DB-BD31-4B8C-83A1-F6EECF244321}">
                <ns3:modId val="975566555"/>
              </p:ext>
            </p:extLst>
          </p:nvPr>
        </p:nvGraphicFramePr>
        <p:xfrm>
          <a:off x="8060143" y="3140956"/>
          <a:ext cx="3527261" cy="1435912"/>
        </p:xfrm>
        <a:graphic>
          <a:graphicData uri="http://schemas.openxmlformats.org/drawingml/2006/chart">
            <ns4:chart ns5:id="rId4"/>
          </a:graphicData>
        </a:graphic>
      </p:graphicFrame>
      <p:sp>
        <p:nvSpPr>
          <p:cNvPr id="95" name="TextBox 94">
            <a:extLst>
              <a:ext uri="{FF2B5EF4-FFF2-40B4-BE49-F238E27FC236}">
                <ns2:creationId id="{DF19FB2C-C3CD-7C09-0C2D-C3BAE21428B4}"/>
              </a:ext>
            </a:extLst>
          </p:cNvPr>
          <p:cNvSpPr txBox="1"/>
          <p:nvPr/>
        </p:nvSpPr>
        <p:spPr>
          <a:xfrm>
            <a:off x="1262271" y="177987"/>
            <a:ext cx="221636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1100" b="1" dirty="0">
                <a:solidFill>
                  <a:schemeClr val="bg1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اسم كبير المهندسين: م حســـان الــحلــبي</a:t>
            </a:r>
          </a:p>
          <a:p>
            <a:pPr algn="r" rtl="1"/>
            <a:endParaRPr lang="ar-SA" sz="1100" b="1" dirty="0">
              <a:solidFill>
                <a:schemeClr val="bg1"/>
              </a:solidFill>
              <a:latin typeface="Cairo" panose="00000500000000000000" pitchFamily="2" charset="-78"/>
              <a:cs typeface="Cairo" panose="00000500000000000000" pitchFamily="2" charset="-78"/>
            </a:endParaRPr>
          </a:p>
          <a:p>
            <a:pPr algn="r" rtl="1"/>
            <a:endParaRPr lang="ar-SA" sz="1100" b="1" dirty="0">
              <a:solidFill>
                <a:schemeClr val="bg1"/>
              </a:solidFill>
              <a:latin typeface="Cairo" panose="00000500000000000000" pitchFamily="2" charset="-78"/>
              <a:cs typeface="Cairo" panose="00000500000000000000" pitchFamily="2" charset="-78"/>
            </a:endParaRPr>
          </a:p>
        </p:txBody>
      </p:sp>
      <p:sp>
        <p:nvSpPr>
          <p:cNvPr id="98" name="Rectangle 97">
            <a:extLst>
              <a:ext uri="{FF2B5EF4-FFF2-40B4-BE49-F238E27FC236}">
                <ns2:creationId id="{FC94D13B-427B-02C4-17CC-4C99481A19D6}"/>
              </a:ext>
            </a:extLst>
          </p:cNvPr>
          <p:cNvSpPr/>
          <p:nvPr/>
        </p:nvSpPr>
        <p:spPr>
          <a:xfrm>
            <a:off x="292963" y="143270"/>
            <a:ext cx="3185668" cy="563439"/>
          </a:xfrm>
          <a:prstGeom prst="rect">
            <a:avLst/>
          </a:prstGeom>
          <a:noFill/>
          <a:ln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0" name="Graphic 99" descr="Research">
            <a:extLst>
              <a:ext uri="{FF2B5EF4-FFF2-40B4-BE49-F238E27FC236}">
                <ns2:creationId id="{81C9484C-EF77-61A2-F2BB-C122B3E43A20}"/>
              </a:ext>
            </a:extLst>
          </p:cNvPr>
          <p:cNvPicPr>
            <a:picLocks noChangeAspect="1"/>
          </p:cNvPicPr>
          <p:nvPr/>
        </p:nvPicPr>
        <p:blipFill>
          <a:blip ns5:embed="rId5">
            <a:extLst>
              <a:ext uri="{28A0092B-C50C-407E-A947-70E740481C1C}">
                <ns6:useLocalDpi val="0"/>
              </a:ext>
              <a:ext uri="{96DAC541-7B7A-43D3-8B79-37D633B846F1}">
                <ns7:svgBlip ns5:embed="rId6"/>
              </a:ext>
            </a:extLst>
          </a:blip>
          <a:stretch>
            <a:fillRect/>
          </a:stretch>
        </p:blipFill>
        <p:spPr>
          <a:xfrm>
            <a:off x="3550375" y="312116"/>
            <a:ext cx="406404" cy="406404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ns2:creationId id="{B45CA345-DB85-4361-CF79-5EE7369A61F4}"/>
              </a:ext>
            </a:extLst>
          </p:cNvPr>
          <p:cNvPicPr>
            <a:picLocks noChangeAspect="1"/>
          </p:cNvPicPr>
          <p:nvPr/>
        </p:nvPicPr>
        <p:blipFill>
          <a:blip ns5:embed="rId7">
            <a:extLst>
              <a:ext uri="{28A0092B-C50C-407E-A947-70E740481C1C}">
                <ns6:useLocalDpi val="0"/>
              </a:ext>
            </a:extLst>
          </a:blip>
          <a:srcRect l="25015" r="22841" b="40723"/>
          <a:stretch/>
        </p:blipFill>
        <p:spPr>
          <a:xfrm>
            <a:off x="10226363" y="-637799"/>
            <a:ext cx="1772305" cy="1426106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ns2:creationId id="{889CFA4A-C8C6-1677-F4CD-839DCD6B67D1}"/>
              </a:ext>
            </a:extLst>
          </p:cNvPr>
          <p:cNvSpPr txBox="1"/>
          <p:nvPr/>
        </p:nvSpPr>
        <p:spPr>
          <a:xfrm>
            <a:off x="8233876" y="1162766"/>
            <a:ext cx="4971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ns2:creationId id="{E30BEA24-1819-A37B-584A-C5B9F6091AAA}"/>
              </a:ext>
            </a:extLst>
          </p:cNvPr>
          <p:cNvSpPr txBox="1"/>
          <p:nvPr/>
        </p:nvSpPr>
        <p:spPr>
          <a:xfrm>
            <a:off x="1245519" y="430769"/>
            <a:ext cx="22163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1100" b="1" dirty="0">
                <a:solidFill>
                  <a:schemeClr val="bg1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التاريخ:</a:t>
            </a:r>
            <a:r>
              <a:rPr lang="en-US" sz="1100" b="1" dirty="0">
                <a:solidFill>
                  <a:schemeClr val="bg1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03/07/2025</a:t>
            </a:r>
            <a:endParaRPr lang="ar-SA" sz="1100" b="1" dirty="0">
              <a:solidFill>
                <a:schemeClr val="bg1"/>
              </a:solidFill>
              <a:latin typeface="Cairo" panose="00000500000000000000" pitchFamily="2" charset="-78"/>
              <a:cs typeface="Cairo" panose="00000500000000000000" pitchFamily="2" charset="-78"/>
            </a:endParaRPr>
          </a:p>
          <a:p>
            <a:pPr algn="r" rtl="1"/>
            <a:endParaRPr lang="ar-SA" sz="1100" b="1" dirty="0">
              <a:solidFill>
                <a:schemeClr val="bg1"/>
              </a:solidFill>
              <a:latin typeface="Cairo" panose="00000500000000000000" pitchFamily="2" charset="-78"/>
              <a:cs typeface="Cairo" panose="00000500000000000000" pitchFamily="2" charset="-78"/>
            </a:endParaRPr>
          </a:p>
        </p:txBody>
      </p:sp>
      <p:sp>
        <p:nvSpPr>
          <p:cNvPr id="13" name="TextBox 12">
            <a:extLst>
              <a:ext uri="{FF2B5EF4-FFF2-40B4-BE49-F238E27FC236}">
                <ns2:creationId id="{9CD5CF45-00B4-E538-1010-CCFC32C71715}"/>
              </a:ext>
            </a:extLst>
          </p:cNvPr>
          <p:cNvSpPr txBox="1"/>
          <p:nvPr/>
        </p:nvSpPr>
        <p:spPr>
          <a:xfrm>
            <a:off x="858537" y="435758"/>
            <a:ext cx="69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 rtl="1">
              <a:defRPr sz="1100" b="1">
                <a:solidFill>
                  <a:schemeClr val="bg1"/>
                </a:solidFill>
                <a:latin typeface="Cairo" panose="00000500000000000000" pitchFamily="2" charset="-78"/>
                <a:cs typeface="Cairo" panose="00000500000000000000" pitchFamily="2" charset="-78"/>
              </a:defRPr>
            </a:lvl1pPr>
          </a:lstStyle>
          <a:p>
            <a:r>
              <a:rPr lang="ar-SA" dirty="0"/>
              <a:t>شهر :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ns2:creationId id="{939F4051-897F-4608-4876-D5561B300E59}"/>
              </a:ext>
            </a:extLst>
          </p:cNvPr>
          <p:cNvSpPr/>
          <p:nvPr/>
        </p:nvSpPr>
        <p:spPr>
          <a:xfrm>
            <a:off x="5339176" y="2002564"/>
            <a:ext cx="113316" cy="106936"/>
          </a:xfrm>
          <a:prstGeom prst="rect">
            <a:avLst/>
          </a:prstGeom>
          <a:solidFill>
            <a:srgbClr val="4F7E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ns2:creationId id="{0E81E4BB-A667-E569-32B0-05624577AAE0}"/>
              </a:ext>
            </a:extLst>
          </p:cNvPr>
          <p:cNvSpPr/>
          <p:nvPr/>
        </p:nvSpPr>
        <p:spPr>
          <a:xfrm>
            <a:off x="5337780" y="2126570"/>
            <a:ext cx="113316" cy="106936"/>
          </a:xfrm>
          <a:prstGeom prst="rect">
            <a:avLst/>
          </a:prstGeom>
          <a:solidFill>
            <a:srgbClr val="BB9D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ns2:creationId id="{35326191-9663-51E7-3F6B-D361DA2C9BBF}"/>
              </a:ext>
            </a:extLst>
          </p:cNvPr>
          <p:cNvSpPr/>
          <p:nvPr/>
        </p:nvSpPr>
        <p:spPr>
          <a:xfrm>
            <a:off x="5337780" y="2251034"/>
            <a:ext cx="113316" cy="10693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ns2:creationId id="{F8B19075-7F1B-B136-B79A-92475645CDFF}"/>
              </a:ext>
            </a:extLst>
          </p:cNvPr>
          <p:cNvSpPr/>
          <p:nvPr/>
        </p:nvSpPr>
        <p:spPr>
          <a:xfrm>
            <a:off x="5337780" y="2375298"/>
            <a:ext cx="113316" cy="106936"/>
          </a:xfrm>
          <a:prstGeom prst="rect">
            <a:avLst/>
          </a:prstGeom>
          <a:solidFill>
            <a:srgbClr val="5074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ns2:creationId id="{C32A86C0-9218-069D-1EFC-27B0F16B94B2}"/>
              </a:ext>
            </a:extLst>
          </p:cNvPr>
          <p:cNvSpPr txBox="1"/>
          <p:nvPr/>
        </p:nvSpPr>
        <p:spPr>
          <a:xfrm>
            <a:off x="4788167" y="2243675"/>
            <a:ext cx="590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SA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رفع أمر </a:t>
            </a:r>
            <a:r>
              <a:rPr lang="ar-SA" dirty="0"/>
              <a:t> 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ns2:creationId id="{14F2CDE9-3C07-C0B8-6CBC-C2D6E9DFDE6B}"/>
              </a:ext>
            </a:extLst>
          </p:cNvPr>
          <p:cNvSpPr txBox="1"/>
          <p:nvPr/>
        </p:nvSpPr>
        <p:spPr>
          <a:xfrm>
            <a:off x="4928796" y="2227311"/>
            <a:ext cx="53236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SA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مغلق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ns2:creationId id="{78D39F3C-9FB5-9B1E-B3A9-1930FD9C5D1D}"/>
              </a:ext>
            </a:extLst>
          </p:cNvPr>
          <p:cNvSpPr txBox="1"/>
          <p:nvPr/>
        </p:nvSpPr>
        <p:spPr>
          <a:xfrm>
            <a:off x="4485568" y="2081966"/>
            <a:ext cx="9440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SA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المرصودة سابقا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ns2:creationId id="{C1C7C220-3AC0-6845-7F59-89A2B80C21A9}"/>
              </a:ext>
            </a:extLst>
          </p:cNvPr>
          <p:cNvSpPr txBox="1"/>
          <p:nvPr/>
        </p:nvSpPr>
        <p:spPr>
          <a:xfrm>
            <a:off x="4172134" y="1931011"/>
            <a:ext cx="13480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SA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المرصودة هذا الشهر</a:t>
            </a:r>
            <a:endParaRPr lang="en-US" dirty="0"/>
          </a:p>
        </p:txBody>
      </p:sp>
      <p:grpSp>
        <p:nvGrpSpPr>
          <p:cNvPr id="24" name="Group 23">
            <a:extLst>
              <a:ext uri="{FF2B5EF4-FFF2-40B4-BE49-F238E27FC236}">
                <ns2:creationId id="{EABF8ACD-D486-37EA-0344-95DD9B7C2B14}"/>
              </a:ext>
            </a:extLst>
          </p:cNvPr>
          <p:cNvGrpSpPr/>
          <p:nvPr/>
        </p:nvGrpSpPr>
        <p:grpSpPr>
          <a:xfrm>
            <a:off x="609601" y="1519530"/>
            <a:ext cx="3236258" cy="957449"/>
            <a:chOff x="609601" y="1519530"/>
            <a:chExt cx="3236258" cy="849374"/>
          </a:xfrm>
        </p:grpSpPr>
        <p:graphicFrame>
          <p:nvGraphicFramePr>
            <p:cNvPr id="83" name="Chart 82">
              <a:extLst>
                <a:ext uri="{FF2B5EF4-FFF2-40B4-BE49-F238E27FC236}">
                  <ns2:creationId id="{C81EF514-895C-51D5-8EBF-734C5E88F188}"/>
                </a:ext>
              </a:extLst>
            </p:cNvPr>
            <p:cNvGraphicFramePr/>
            <p:nvPr>
              <p:extLst>
                <p:ext uri="{D42A27DB-BD31-4B8C-83A1-F6EECF244321}">
                  <ns3:modId val="3554092345"/>
                </p:ext>
              </p:extLst>
            </p:nvPr>
          </p:nvGraphicFramePr>
          <p:xfrm>
            <a:off x="609601" y="1519901"/>
            <a:ext cx="3236258" cy="849003"/>
          </p:xfrm>
          <a:graphic>
            <a:graphicData uri="http://schemas.openxmlformats.org/drawingml/2006/chart">
              <ns4:chart ns5:id="rId8"/>
            </a:graphicData>
          </a:graphic>
        </p:graphicFrame>
        <p:sp>
          <p:nvSpPr>
            <p:cNvPr id="23" name="TextBox 22">
              <a:extLst>
                <a:ext uri="{FF2B5EF4-FFF2-40B4-BE49-F238E27FC236}">
                  <ns2:creationId id="{C85725A2-3232-7BEB-59CA-16416C730611}"/>
                </a:ext>
              </a:extLst>
            </p:cNvPr>
            <p:cNvSpPr txBox="1"/>
            <p:nvPr/>
          </p:nvSpPr>
          <p:spPr>
            <a:xfrm>
              <a:off x="758850" y="1519530"/>
              <a:ext cx="8907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ar-SA" dirty="0"/>
                <a:t> </a:t>
              </a:r>
              <a:endParaRPr lang="en-US" dirty="0"/>
            </a:p>
          </p:txBody>
        </p:sp>
      </p:grpSp>
      <p:sp>
        <p:nvSpPr>
          <p:cNvPr id="25" name="Rectangle 24">
            <a:extLst>
              <a:ext uri="{FF2B5EF4-FFF2-40B4-BE49-F238E27FC236}">
                <ns2:creationId id="{416EF7B6-9041-1875-0FBC-7C9C8D24BDD2}"/>
              </a:ext>
            </a:extLst>
          </p:cNvPr>
          <p:cNvSpPr/>
          <p:nvPr/>
        </p:nvSpPr>
        <p:spPr>
          <a:xfrm>
            <a:off x="579001" y="1123795"/>
            <a:ext cx="407663" cy="307777"/>
          </a:xfrm>
          <a:prstGeom prst="rect">
            <a:avLst/>
          </a:prstGeom>
          <a:solidFill>
            <a:srgbClr val="BB9D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ns2:creationId id="{D6FCBEE2-5285-43F7-DFB4-A9D9EFC884C4}"/>
              </a:ext>
            </a:extLst>
          </p:cNvPr>
          <p:cNvSpPr txBox="1"/>
          <p:nvPr/>
        </p:nvSpPr>
        <p:spPr>
          <a:xfrm>
            <a:off x="534022" y="1142172"/>
            <a:ext cx="4971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100</a:t>
            </a:r>
            <a:endParaRPr lang="en-US" sz="1600" b="1" dirty="0">
              <a:solidFill>
                <a:schemeClr val="bg1"/>
              </a:solidFill>
              <a:latin typeface="Cairo" panose="00000500000000000000" pitchFamily="2" charset="-78"/>
              <a:cs typeface="Cairo" panose="00000500000000000000" pitchFamily="2" charset="-78"/>
            </a:endParaRPr>
          </a:p>
        </p:txBody>
      </p:sp>
      <p:sp>
        <p:nvSpPr>
          <p:cNvPr id="2" name="Rectangle 1">
            <a:extLst>
              <a:ext uri="{FF2B5EF4-FFF2-40B4-BE49-F238E27FC236}">
                <ns2:creationId id="{68E04BBF-A3FC-40D8-39FC-42C21321346A}"/>
              </a:ext>
            </a:extLst>
          </p:cNvPr>
          <p:cNvSpPr/>
          <p:nvPr/>
        </p:nvSpPr>
        <p:spPr>
          <a:xfrm>
            <a:off x="8217389" y="2753046"/>
            <a:ext cx="407663" cy="307777"/>
          </a:xfrm>
          <a:prstGeom prst="rect">
            <a:avLst/>
          </a:prstGeom>
          <a:solidFill>
            <a:srgbClr val="BB9D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ns2:creationId id="{C1B67FDA-5937-F138-CC33-2BAC92505AFF}"/>
              </a:ext>
            </a:extLst>
          </p:cNvPr>
          <p:cNvSpPr txBox="1"/>
          <p:nvPr/>
        </p:nvSpPr>
        <p:spPr>
          <a:xfrm>
            <a:off x="8181777" y="2769697"/>
            <a:ext cx="5960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31</a:t>
            </a:r>
            <a:endParaRPr lang="en-US" sz="1600" b="1" dirty="0">
              <a:solidFill>
                <a:schemeClr val="bg1"/>
              </a:solidFill>
              <a:latin typeface="Cairo" panose="00000500000000000000" pitchFamily="2" charset="-78"/>
              <a:cs typeface="Cairo" panose="00000500000000000000" pitchFamily="2" charset="-78"/>
            </a:endParaRPr>
          </a:p>
        </p:txBody>
      </p:sp>
      <p:sp>
        <p:nvSpPr>
          <p:cNvPr id="22" name="Rectangle 21">
            <a:extLst>
              <a:ext uri="{FF2B5EF4-FFF2-40B4-BE49-F238E27FC236}">
                <ns2:creationId id="{6C39F1CB-354C-5BA0-4457-3CEAA0968418}"/>
              </a:ext>
            </a:extLst>
          </p:cNvPr>
          <p:cNvSpPr/>
          <p:nvPr/>
        </p:nvSpPr>
        <p:spPr>
          <a:xfrm>
            <a:off x="423889" y="4599017"/>
            <a:ext cx="11344220" cy="20086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0" name="Chart 39">
            <a:extLst>
              <a:ext uri="{FF2B5EF4-FFF2-40B4-BE49-F238E27FC236}">
                <ns2:creationId id="{9C89353C-0969-4BF5-303B-6C823DBB6627}"/>
              </a:ext>
            </a:extLst>
          </p:cNvPr>
          <p:cNvGraphicFramePr/>
          <p:nvPr>
            <p:extLst>
              <p:ext uri="{D42A27DB-BD31-4B8C-83A1-F6EECF244321}">
                <ns3:modId val="3688295577"/>
              </p:ext>
            </p:extLst>
          </p:nvPr>
        </p:nvGraphicFramePr>
        <p:xfrm>
          <a:off x="4371717" y="2629893"/>
          <a:ext cx="3515611" cy="1876091"/>
        </p:xfrm>
        <a:graphic>
          <a:graphicData uri="http://schemas.openxmlformats.org/drawingml/2006/chart">
            <ns4:chart ns5:id="rId9"/>
          </a:graphicData>
        </a:graphic>
      </p:graphicFrame>
      <p:sp>
        <p:nvSpPr>
          <p:cNvPr id="42" name="TextBox 41">
            <a:extLst>
              <a:ext uri="{FF2B5EF4-FFF2-40B4-BE49-F238E27FC236}">
                <ns2:creationId id="{F656D084-45A0-80A4-18A9-F972E0D8B703}"/>
              </a:ext>
            </a:extLst>
          </p:cNvPr>
          <p:cNvSpPr txBox="1"/>
          <p:nvPr/>
        </p:nvSpPr>
        <p:spPr>
          <a:xfrm>
            <a:off x="5907552" y="3312006"/>
            <a:ext cx="12036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SA" sz="1100" dirty="0">
                <a:solidFill>
                  <a:srgbClr val="BF0000"/>
                </a:solidFill>
              </a:rPr>
              <a:t>297</a:t>
            </a:r>
            <a:r>
              <a:rPr lang="en-US" sz="1100" dirty="0">
                <a:solidFill>
                  <a:srgbClr val="BF0000"/>
                </a:solidFill>
              </a:rPr>
              <a:t> KM </a:t>
            </a:r>
          </a:p>
        </p:txBody>
      </p:sp>
      <p:sp>
        <p:nvSpPr>
          <p:cNvPr id="43" name="TextBox 42">
            <a:extLst>
              <a:ext uri="{FF2B5EF4-FFF2-40B4-BE49-F238E27FC236}">
                <ns2:creationId id="{FA1417E9-F803-7603-3C58-D176C91FD4E1}"/>
              </a:ext>
            </a:extLst>
          </p:cNvPr>
          <p:cNvSpPr txBox="1"/>
          <p:nvPr/>
        </p:nvSpPr>
        <p:spPr>
          <a:xfrm>
            <a:off x="6029172" y="3906870"/>
            <a:ext cx="12036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SA" sz="1100" dirty="0">
                <a:solidFill>
                  <a:srgbClr val="E38D00"/>
                </a:solidFill>
              </a:rPr>
              <a:t>1798.1</a:t>
            </a:r>
            <a:r>
              <a:rPr lang="en-US" sz="1100" dirty="0">
                <a:solidFill>
                  <a:srgbClr val="E38D00"/>
                </a:solidFill>
              </a:rPr>
              <a:t> KM</a:t>
            </a:r>
          </a:p>
        </p:txBody>
      </p:sp>
      <p:sp>
        <p:nvSpPr>
          <p:cNvPr id="44" name="TextBox 43">
            <a:extLst>
              <a:ext uri="{FF2B5EF4-FFF2-40B4-BE49-F238E27FC236}">
                <ns2:creationId id="{6D1D40B0-9B55-141C-B635-BFDBFBD82ED8}"/>
              </a:ext>
            </a:extLst>
          </p:cNvPr>
          <p:cNvSpPr txBox="1"/>
          <p:nvPr/>
        </p:nvSpPr>
        <p:spPr>
          <a:xfrm>
            <a:off x="4456588" y="3048215"/>
            <a:ext cx="12036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SA" sz="1100" dirty="0">
                <a:solidFill>
                  <a:srgbClr val="87C44F"/>
                </a:solidFill>
              </a:rPr>
              <a:t>139.5</a:t>
            </a:r>
            <a:r>
              <a:rPr lang="en-US" sz="1100" dirty="0">
                <a:solidFill>
                  <a:srgbClr val="87C44F"/>
                </a:solidFill>
              </a:rPr>
              <a:t> KM</a:t>
            </a:r>
          </a:p>
        </p:txBody>
      </p:sp>
      <p:sp>
        <p:nvSpPr>
          <p:cNvPr id="45" name="TextBox 44">
            <a:extLst>
              <a:ext uri="{FF2B5EF4-FFF2-40B4-BE49-F238E27FC236}">
                <ns2:creationId id="{E6092652-704F-6D38-8D16-649419678941}"/>
              </a:ext>
            </a:extLst>
          </p:cNvPr>
          <p:cNvSpPr txBox="1"/>
          <p:nvPr/>
        </p:nvSpPr>
        <p:spPr>
          <a:xfrm>
            <a:off x="4395212" y="4208911"/>
            <a:ext cx="12036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SA" sz="1100" dirty="0">
                <a:solidFill>
                  <a:srgbClr val="E0D31D"/>
                </a:solidFill>
              </a:rPr>
              <a:t>1462</a:t>
            </a:r>
            <a:r>
              <a:rPr lang="en-US" sz="1100" dirty="0">
                <a:solidFill>
                  <a:srgbClr val="E0D31D"/>
                </a:solidFill>
              </a:rPr>
              <a:t> KM</a:t>
            </a:r>
          </a:p>
        </p:txBody>
      </p:sp>
      <p:sp>
        <p:nvSpPr>
          <p:cNvPr id="46" name="TextBox 45">
            <a:extLst>
              <a:ext uri="{FF2B5EF4-FFF2-40B4-BE49-F238E27FC236}">
                <ns2:creationId id="{DC0687D2-2DBD-215C-799B-72A1688F1A5B}"/>
              </a:ext>
            </a:extLst>
          </p:cNvPr>
          <p:cNvSpPr txBox="1"/>
          <p:nvPr/>
        </p:nvSpPr>
        <p:spPr>
          <a:xfrm>
            <a:off x="5520196" y="3011316"/>
            <a:ext cx="9891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100" b="1">
                <a:solidFill>
                  <a:srgbClr val="BF0000"/>
                </a:solidFill>
              </a:defRPr>
            </a:lvl1pPr>
          </a:lstStyle>
          <a:p>
            <a:r>
              <a:rPr lang="ar-SA" b="0" dirty="0">
                <a:solidFill>
                  <a:schemeClr val="tx1"/>
                </a:solidFill>
              </a:rPr>
              <a:t>75.2</a:t>
            </a:r>
            <a:r>
              <a:rPr lang="en-US" b="0" dirty="0">
                <a:solidFill>
                  <a:schemeClr val="tx1"/>
                </a:solidFill>
              </a:rPr>
              <a:t> KM</a:t>
            </a:r>
          </a:p>
        </p:txBody>
      </p:sp>
      <p:sp>
        <p:nvSpPr>
          <p:cNvPr id="47" name="TextBox 46">
            <a:extLst>
              <a:ext uri="{FF2B5EF4-FFF2-40B4-BE49-F238E27FC236}">
                <ns2:creationId id="{131F694A-EE70-CA33-2515-0516CD396017}"/>
              </a:ext>
            </a:extLst>
          </p:cNvPr>
          <p:cNvSpPr txBox="1"/>
          <p:nvPr/>
        </p:nvSpPr>
        <p:spPr>
          <a:xfrm>
            <a:off x="2048558" y="2876597"/>
            <a:ext cx="2216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SA" sz="1200" b="1" dirty="0">
                <a:solidFill>
                  <a:srgbClr val="77777A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حالة وحدات التعداد المروري:</a:t>
            </a:r>
            <a:endParaRPr lang="en-US" sz="1200" b="1" dirty="0">
              <a:solidFill>
                <a:srgbClr val="77777A"/>
              </a:solidFill>
              <a:latin typeface="Cairo" panose="00000500000000000000" pitchFamily="2" charset="-78"/>
              <a:cs typeface="Cairo" panose="00000500000000000000" pitchFamily="2" charset="-78"/>
            </a:endParaRPr>
          </a:p>
        </p:txBody>
      </p:sp>
      <p:graphicFrame>
        <p:nvGraphicFramePr>
          <p:cNvPr id="48" name="Chart 47">
            <a:extLst>
              <a:ext uri="{FF2B5EF4-FFF2-40B4-BE49-F238E27FC236}">
                <ns2:creationId id="{4FEC3951-FF1E-BEC5-C184-49FA82F60250}"/>
              </a:ext>
            </a:extLst>
          </p:cNvPr>
          <p:cNvGraphicFramePr/>
          <p:nvPr>
            <p:extLst>
              <p:ext uri="{D42A27DB-BD31-4B8C-83A1-F6EECF244321}">
                <ns3:modId val="973581822"/>
              </p:ext>
            </p:extLst>
          </p:nvPr>
        </p:nvGraphicFramePr>
        <p:xfrm>
          <a:off x="645896" y="3214532"/>
          <a:ext cx="3289063" cy="1164763"/>
        </p:xfrm>
        <a:graphic>
          <a:graphicData uri="http://schemas.openxmlformats.org/drawingml/2006/chart">
            <ns4:chart ns5:id="rId10"/>
          </a:graphicData>
        </a:graphic>
      </p:graphicFrame>
      <p:sp>
        <p:nvSpPr>
          <p:cNvPr id="54" name="TextBox 53">
            <a:extLst>
              <a:ext uri="{FF2B5EF4-FFF2-40B4-BE49-F238E27FC236}">
                <ns2:creationId id="{2B891140-0736-2EFA-81AE-951AF45A0D47}"/>
              </a:ext>
            </a:extLst>
          </p:cNvPr>
          <p:cNvSpPr txBox="1"/>
          <p:nvPr/>
        </p:nvSpPr>
        <p:spPr>
          <a:xfrm>
            <a:off x="9571598" y="5018457"/>
            <a:ext cx="18806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 rtl="1">
              <a:defRPr sz="1200" b="1">
                <a:solidFill>
                  <a:srgbClr val="77777A"/>
                </a:solidFill>
                <a:latin typeface="Cairo" panose="00000500000000000000" pitchFamily="2" charset="-78"/>
                <a:cs typeface="Cairo" panose="00000500000000000000" pitchFamily="2" charset="-78"/>
              </a:defRPr>
            </a:lvl1pPr>
          </a:lstStyle>
          <a:p>
            <a:r>
              <a:rPr lang="ar-SA" dirty="0">
                <a:solidFill>
                  <a:srgbClr val="4F7E70"/>
                </a:solidFill>
              </a:rPr>
              <a:t>عدد المدراس:</a:t>
            </a:r>
            <a:endParaRPr lang="en-US" dirty="0">
              <a:solidFill>
                <a:srgbClr val="4F7E70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ns2:creationId id="{BEF19B17-3637-6EDB-35DF-6BF3B3156B42}"/>
              </a:ext>
            </a:extLst>
          </p:cNvPr>
          <p:cNvSpPr txBox="1"/>
          <p:nvPr/>
        </p:nvSpPr>
        <p:spPr>
          <a:xfrm>
            <a:off x="9804169" y="5379899"/>
            <a:ext cx="15784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 rtl="1">
              <a:defRPr sz="1200" b="1">
                <a:solidFill>
                  <a:srgbClr val="77777A"/>
                </a:solidFill>
                <a:latin typeface="Cairo" panose="00000500000000000000" pitchFamily="2" charset="-78"/>
                <a:cs typeface="Cairo" panose="00000500000000000000" pitchFamily="2" charset="-78"/>
              </a:defRPr>
            </a:lvl1pPr>
          </a:lstStyle>
          <a:p>
            <a:r>
              <a:rPr lang="ar-SA" sz="1050" b="0" dirty="0"/>
              <a:t>المطلوب</a:t>
            </a:r>
            <a:endParaRPr lang="en-US" sz="1050" b="0" dirty="0"/>
          </a:p>
        </p:txBody>
      </p:sp>
      <p:sp>
        <p:nvSpPr>
          <p:cNvPr id="60" name="TextBox 59">
            <a:extLst>
              <a:ext uri="{FF2B5EF4-FFF2-40B4-BE49-F238E27FC236}">
                <ns2:creationId id="{1AF56B3C-E23D-EAA5-1A52-244F707E64EC}"/>
              </a:ext>
            </a:extLst>
          </p:cNvPr>
          <p:cNvSpPr txBox="1"/>
          <p:nvPr/>
        </p:nvSpPr>
        <p:spPr>
          <a:xfrm>
            <a:off x="9835963" y="5955803"/>
            <a:ext cx="15784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 rtl="1">
              <a:defRPr sz="1200" b="1">
                <a:solidFill>
                  <a:srgbClr val="77777A"/>
                </a:solidFill>
                <a:latin typeface="Cairo" panose="00000500000000000000" pitchFamily="2" charset="-78"/>
                <a:cs typeface="Cairo" panose="00000500000000000000" pitchFamily="2" charset="-78"/>
              </a:defRPr>
            </a:lvl1pPr>
          </a:lstStyle>
          <a:p>
            <a:r>
              <a:rPr lang="ar-SA" sz="1050" b="0" dirty="0"/>
              <a:t>المنفذ</a:t>
            </a:r>
            <a:endParaRPr lang="en-US" sz="1050" b="0" dirty="0"/>
          </a:p>
        </p:txBody>
      </p:sp>
      <p:sp>
        <p:nvSpPr>
          <p:cNvPr id="64" name="TextBox 63">
            <a:extLst>
              <a:ext uri="{FF2B5EF4-FFF2-40B4-BE49-F238E27FC236}">
                <ns2:creationId id="{F9464F30-6A25-FBB5-1C28-792229438119}"/>
              </a:ext>
            </a:extLst>
          </p:cNvPr>
          <p:cNvSpPr txBox="1"/>
          <p:nvPr/>
        </p:nvSpPr>
        <p:spPr>
          <a:xfrm>
            <a:off x="6096000" y="5018978"/>
            <a:ext cx="18806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 rtl="1">
              <a:defRPr sz="1200" b="1">
                <a:solidFill>
                  <a:srgbClr val="77777A"/>
                </a:solidFill>
                <a:latin typeface="Cairo" panose="00000500000000000000" pitchFamily="2" charset="-78"/>
                <a:cs typeface="Cairo" panose="00000500000000000000" pitchFamily="2" charset="-78"/>
              </a:defRPr>
            </a:lvl1pPr>
          </a:lstStyle>
          <a:p>
            <a:r>
              <a:rPr lang="ar-SA" dirty="0">
                <a:solidFill>
                  <a:srgbClr val="4F7E70"/>
                </a:solidFill>
              </a:rPr>
              <a:t>عدد المنحنيات:</a:t>
            </a:r>
            <a:endParaRPr lang="en-US" dirty="0">
              <a:solidFill>
                <a:srgbClr val="4F7E70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ns2:creationId id="{E4103089-0437-D8F4-8DD7-026CFF820ED4}"/>
              </a:ext>
            </a:extLst>
          </p:cNvPr>
          <p:cNvSpPr txBox="1"/>
          <p:nvPr/>
        </p:nvSpPr>
        <p:spPr>
          <a:xfrm>
            <a:off x="1417061" y="5017094"/>
            <a:ext cx="28624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 rtl="1">
              <a:defRPr sz="1200" b="1">
                <a:solidFill>
                  <a:srgbClr val="77777A"/>
                </a:solidFill>
                <a:latin typeface="Cairo" panose="00000500000000000000" pitchFamily="2" charset="-78"/>
                <a:cs typeface="Cairo" panose="00000500000000000000" pitchFamily="2" charset="-78"/>
              </a:defRPr>
            </a:lvl1pPr>
          </a:lstStyle>
          <a:p>
            <a:r>
              <a:rPr lang="ar-SA" dirty="0">
                <a:solidFill>
                  <a:srgbClr val="4F7E70"/>
                </a:solidFill>
              </a:rPr>
              <a:t>عدد الطرق التي تتطلب تخفيض سرعة :</a:t>
            </a:r>
            <a:endParaRPr lang="en-US" dirty="0">
              <a:solidFill>
                <a:srgbClr val="4F7E70"/>
              </a:solidFill>
            </a:endParaRPr>
          </a:p>
        </p:txBody>
      </p:sp>
      <p:sp>
        <p:nvSpPr>
          <p:cNvPr id="97" name="Rectangle: Rounded Corners 96">
            <a:extLst>
              <a:ext uri="{FF2B5EF4-FFF2-40B4-BE49-F238E27FC236}">
                <ns2:creationId id="{B3F65F41-E677-73FD-3478-B67A3F7271DC}"/>
              </a:ext>
            </a:extLst>
          </p:cNvPr>
          <p:cNvSpPr/>
          <p:nvPr/>
        </p:nvSpPr>
        <p:spPr>
          <a:xfrm>
            <a:off x="9385749" y="5366016"/>
            <a:ext cx="270254" cy="244274"/>
          </a:xfrm>
          <a:prstGeom prst="roundRect">
            <a:avLst/>
          </a:prstGeom>
          <a:solidFill>
            <a:srgbClr val="BB9D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TextBox 106">
            <a:extLst>
              <a:ext uri="{FF2B5EF4-FFF2-40B4-BE49-F238E27FC236}">
                <ns2:creationId id="{1B8F79B3-F351-338A-558E-CC129B3245DF}"/>
              </a:ext>
            </a:extLst>
          </p:cNvPr>
          <p:cNvSpPr txBox="1"/>
          <p:nvPr/>
        </p:nvSpPr>
        <p:spPr>
          <a:xfrm>
            <a:off x="9369442" y="5358276"/>
            <a:ext cx="2399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SA" sz="1400" b="1" dirty="0">
                <a:solidFill>
                  <a:schemeClr val="bg1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0</a:t>
            </a:r>
            <a:endParaRPr lang="en-US" sz="1400" b="1" dirty="0">
              <a:solidFill>
                <a:schemeClr val="bg1"/>
              </a:solidFill>
              <a:latin typeface="Cairo" panose="00000500000000000000" pitchFamily="2" charset="-78"/>
              <a:cs typeface="Cairo" panose="00000500000000000000" pitchFamily="2" charset="-78"/>
            </a:endParaRPr>
          </a:p>
        </p:txBody>
      </p:sp>
      <p:grpSp>
        <p:nvGrpSpPr>
          <p:cNvPr id="29" name="Group 28">
            <a:extLst>
              <a:ext uri="{FF2B5EF4-FFF2-40B4-BE49-F238E27FC236}">
                <ns2:creationId id="{A1A3554E-4D25-C5DC-B1A2-34382D26132A}"/>
              </a:ext>
            </a:extLst>
          </p:cNvPr>
          <p:cNvGrpSpPr/>
          <p:nvPr/>
        </p:nvGrpSpPr>
        <p:grpSpPr>
          <a:xfrm>
            <a:off x="8630213" y="4688290"/>
            <a:ext cx="3076175" cy="282313"/>
            <a:chOff x="4965028" y="4690720"/>
            <a:chExt cx="3076175" cy="282313"/>
          </a:xfrm>
        </p:grpSpPr>
        <p:sp>
          <p:nvSpPr>
            <p:cNvPr id="51" name="TextBox 50">
              <a:extLst>
                <a:ext uri="{FF2B5EF4-FFF2-40B4-BE49-F238E27FC236}">
                  <ns2:creationId id="{103480D8-7961-8B0D-4432-17C644B7B99D}"/>
                </a:ext>
              </a:extLst>
            </p:cNvPr>
            <p:cNvSpPr txBox="1"/>
            <p:nvPr/>
          </p:nvSpPr>
          <p:spPr>
            <a:xfrm>
              <a:off x="5548374" y="4690720"/>
              <a:ext cx="24928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200" b="1">
                  <a:solidFill>
                    <a:srgbClr val="77777A"/>
                  </a:solidFill>
                  <a:latin typeface="Cairo" panose="00000500000000000000" pitchFamily="2" charset="-78"/>
                  <a:cs typeface="Cairo" panose="00000500000000000000" pitchFamily="2" charset="-78"/>
                </a:defRPr>
              </a:lvl1pPr>
            </a:lstStyle>
            <a:p>
              <a:pPr algn="r" rtl="1"/>
              <a:r>
                <a:rPr lang="ar-SA" dirty="0"/>
                <a:t>أولوية التدخل حسب توصيات </a:t>
              </a:r>
              <a:r>
                <a:rPr lang="en-US" dirty="0"/>
                <a:t>IRAP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ns2:creationId id="{ECF21256-E337-A888-D4F9-A246E5239184}"/>
                </a:ext>
              </a:extLst>
            </p:cNvPr>
            <p:cNvSpPr txBox="1"/>
            <p:nvPr/>
          </p:nvSpPr>
          <p:spPr>
            <a:xfrm>
              <a:off x="4965028" y="4696034"/>
              <a:ext cx="8588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r" rtl="1">
                <a:defRPr sz="1200" b="1">
                  <a:solidFill>
                    <a:srgbClr val="77777A"/>
                  </a:solidFill>
                  <a:latin typeface="Cairo" panose="00000500000000000000" pitchFamily="2" charset="-78"/>
                  <a:cs typeface="Cairo" panose="00000500000000000000" pitchFamily="2" charset="-78"/>
                </a:defRPr>
              </a:lvl1pPr>
            </a:lstStyle>
            <a:p>
              <a:r>
                <a:rPr lang="ar-SA" dirty="0"/>
                <a:t>العاجلة:</a:t>
              </a:r>
              <a:endParaRPr lang="en-US" dirty="0"/>
            </a:p>
          </p:txBody>
        </p:sp>
      </p:grpSp>
      <p:sp>
        <p:nvSpPr>
          <p:cNvPr id="30" name="TextBox 29">
            <a:extLst>
              <a:ext uri="{FF2B5EF4-FFF2-40B4-BE49-F238E27FC236}">
                <ns2:creationId id="{78F96CDE-6AA2-3443-7B41-CDAAC5BF7466}"/>
              </a:ext>
            </a:extLst>
          </p:cNvPr>
          <p:cNvSpPr txBox="1"/>
          <p:nvPr/>
        </p:nvSpPr>
        <p:spPr>
          <a:xfrm>
            <a:off x="8764462" y="5641509"/>
            <a:ext cx="263444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 rtl="1">
              <a:defRPr sz="1200" b="1">
                <a:solidFill>
                  <a:srgbClr val="77777A"/>
                </a:solidFill>
                <a:latin typeface="Cairo" panose="00000500000000000000" pitchFamily="2" charset="-78"/>
                <a:cs typeface="Cairo" panose="00000500000000000000" pitchFamily="2" charset="-78"/>
              </a:defRPr>
            </a:lvl1pPr>
          </a:lstStyle>
          <a:p>
            <a:r>
              <a:rPr lang="ar-SA" sz="1050" b="0" dirty="0"/>
              <a:t>تم رفع أمر عمل و اعتماده</a:t>
            </a:r>
            <a:endParaRPr lang="en-US" sz="1050" b="0" dirty="0"/>
          </a:p>
        </p:txBody>
      </p:sp>
      <p:sp>
        <p:nvSpPr>
          <p:cNvPr id="33" name="Rectangle: Rounded Corners 32">
            <a:extLst>
              <a:ext uri="{FF2B5EF4-FFF2-40B4-BE49-F238E27FC236}">
                <ns2:creationId id="{73123470-C57F-3D1D-02D4-173A2E5C3AA9}"/>
              </a:ext>
            </a:extLst>
          </p:cNvPr>
          <p:cNvSpPr/>
          <p:nvPr/>
        </p:nvSpPr>
        <p:spPr>
          <a:xfrm>
            <a:off x="9385749" y="5671339"/>
            <a:ext cx="270254" cy="244274"/>
          </a:xfrm>
          <a:prstGeom prst="roundRect">
            <a:avLst/>
          </a:prstGeom>
          <a:solidFill>
            <a:srgbClr val="BB9D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ns2:creationId id="{79DA673D-2E30-ECE3-C14F-578F7A27A810}"/>
              </a:ext>
            </a:extLst>
          </p:cNvPr>
          <p:cNvSpPr/>
          <p:nvPr/>
        </p:nvSpPr>
        <p:spPr>
          <a:xfrm>
            <a:off x="9390086" y="5968578"/>
            <a:ext cx="270254" cy="244274"/>
          </a:xfrm>
          <a:prstGeom prst="roundRect">
            <a:avLst/>
          </a:prstGeom>
          <a:solidFill>
            <a:srgbClr val="BB9D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TextBox 105">
            <a:extLst>
              <a:ext uri="{FF2B5EF4-FFF2-40B4-BE49-F238E27FC236}">
                <ns2:creationId id="{95C3DF0A-DCE0-3986-353B-7B7CBF69F0EF}"/>
              </a:ext>
            </a:extLst>
          </p:cNvPr>
          <p:cNvSpPr txBox="1"/>
          <p:nvPr/>
        </p:nvSpPr>
        <p:spPr>
          <a:xfrm>
            <a:off x="9390086" y="5655655"/>
            <a:ext cx="229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SA" sz="1400" b="1" dirty="0">
                <a:solidFill>
                  <a:schemeClr val="bg1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0</a:t>
            </a:r>
            <a:endParaRPr lang="en-US" sz="1400" b="1" dirty="0">
              <a:solidFill>
                <a:schemeClr val="bg1"/>
              </a:solidFill>
              <a:latin typeface="Cairo" panose="00000500000000000000" pitchFamily="2" charset="-78"/>
              <a:cs typeface="Cairo" panose="00000500000000000000" pitchFamily="2" charset="-78"/>
            </a:endParaRPr>
          </a:p>
        </p:txBody>
      </p:sp>
      <p:sp>
        <p:nvSpPr>
          <p:cNvPr id="35" name="TextBox 34">
            <a:extLst>
              <a:ext uri="{FF2B5EF4-FFF2-40B4-BE49-F238E27FC236}">
                <ns2:creationId id="{9A56DD4F-12D4-9777-A8ED-B64C69A49ACA}"/>
              </a:ext>
            </a:extLst>
          </p:cNvPr>
          <p:cNvSpPr txBox="1"/>
          <p:nvPr/>
        </p:nvSpPr>
        <p:spPr>
          <a:xfrm>
            <a:off x="9379941" y="5953843"/>
            <a:ext cx="229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SA" sz="1400" b="1" dirty="0">
                <a:solidFill>
                  <a:schemeClr val="bg1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0</a:t>
            </a:r>
            <a:endParaRPr lang="en-US" sz="1400" b="1" dirty="0">
              <a:solidFill>
                <a:schemeClr val="bg1"/>
              </a:solidFill>
              <a:latin typeface="Cairo" panose="00000500000000000000" pitchFamily="2" charset="-78"/>
              <a:cs typeface="Cairo" panose="00000500000000000000" pitchFamily="2" charset="-78"/>
            </a:endParaRPr>
          </a:p>
        </p:txBody>
      </p:sp>
      <p:sp>
        <p:nvSpPr>
          <p:cNvPr id="61" name="TextBox 60">
            <a:extLst>
              <a:ext uri="{FF2B5EF4-FFF2-40B4-BE49-F238E27FC236}">
                <ns2:creationId id="{7CE29897-2349-F24D-C371-79DD84FAE755}"/>
              </a:ext>
            </a:extLst>
          </p:cNvPr>
          <p:cNvSpPr txBox="1"/>
          <p:nvPr/>
        </p:nvSpPr>
        <p:spPr>
          <a:xfrm>
            <a:off x="6200553" y="5324539"/>
            <a:ext cx="15784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 rtl="1">
              <a:defRPr sz="1200" b="1">
                <a:solidFill>
                  <a:srgbClr val="77777A"/>
                </a:solidFill>
                <a:latin typeface="Cairo" panose="00000500000000000000" pitchFamily="2" charset="-78"/>
                <a:cs typeface="Cairo" panose="00000500000000000000" pitchFamily="2" charset="-78"/>
              </a:defRPr>
            </a:lvl1pPr>
          </a:lstStyle>
          <a:p>
            <a:r>
              <a:rPr lang="ar-SA" sz="1050" b="0" dirty="0"/>
              <a:t>المطلوب</a:t>
            </a:r>
            <a:endParaRPr lang="en-US" sz="1050" b="0" dirty="0"/>
          </a:p>
        </p:txBody>
      </p:sp>
      <p:sp>
        <p:nvSpPr>
          <p:cNvPr id="63" name="TextBox 62">
            <a:extLst>
              <a:ext uri="{FF2B5EF4-FFF2-40B4-BE49-F238E27FC236}">
                <ns2:creationId id="{839D0515-DF30-731A-2CFA-7497E3B1C694}"/>
              </a:ext>
            </a:extLst>
          </p:cNvPr>
          <p:cNvSpPr txBox="1"/>
          <p:nvPr/>
        </p:nvSpPr>
        <p:spPr>
          <a:xfrm>
            <a:off x="6232347" y="5900443"/>
            <a:ext cx="15784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 rtl="1">
              <a:defRPr sz="1200" b="1">
                <a:solidFill>
                  <a:srgbClr val="77777A"/>
                </a:solidFill>
                <a:latin typeface="Cairo" panose="00000500000000000000" pitchFamily="2" charset="-78"/>
                <a:cs typeface="Cairo" panose="00000500000000000000" pitchFamily="2" charset="-78"/>
              </a:defRPr>
            </a:lvl1pPr>
          </a:lstStyle>
          <a:p>
            <a:r>
              <a:rPr lang="ar-SA" sz="1050" b="0" dirty="0"/>
              <a:t>المنفذ</a:t>
            </a:r>
            <a:endParaRPr lang="en-US" sz="1050" b="0" dirty="0"/>
          </a:p>
        </p:txBody>
      </p:sp>
      <p:sp>
        <p:nvSpPr>
          <p:cNvPr id="79" name="Rectangle: Rounded Corners 78">
            <a:extLst>
              <a:ext uri="{FF2B5EF4-FFF2-40B4-BE49-F238E27FC236}">
                <ns2:creationId id="{1D779DAF-AC24-9FDF-F0BD-5A41D2E5A13F}"/>
              </a:ext>
            </a:extLst>
          </p:cNvPr>
          <p:cNvSpPr/>
          <p:nvPr/>
        </p:nvSpPr>
        <p:spPr>
          <a:xfrm>
            <a:off x="5594019" y="5313051"/>
            <a:ext cx="270254" cy="244274"/>
          </a:xfrm>
          <a:prstGeom prst="roundRect">
            <a:avLst/>
          </a:prstGeom>
          <a:solidFill>
            <a:srgbClr val="BB9D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TextBox 81">
            <a:extLst>
              <a:ext uri="{FF2B5EF4-FFF2-40B4-BE49-F238E27FC236}">
                <ns2:creationId id="{0C8BF0C0-BC85-C92F-5BD3-7B68C505EBFB}"/>
              </a:ext>
            </a:extLst>
          </p:cNvPr>
          <p:cNvSpPr txBox="1"/>
          <p:nvPr/>
        </p:nvSpPr>
        <p:spPr>
          <a:xfrm>
            <a:off x="5160846" y="5586149"/>
            <a:ext cx="263444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 rtl="1">
              <a:defRPr sz="1200" b="1">
                <a:solidFill>
                  <a:srgbClr val="77777A"/>
                </a:solidFill>
                <a:latin typeface="Cairo" panose="00000500000000000000" pitchFamily="2" charset="-78"/>
                <a:cs typeface="Cairo" panose="00000500000000000000" pitchFamily="2" charset="-78"/>
              </a:defRPr>
            </a:lvl1pPr>
          </a:lstStyle>
          <a:p>
            <a:r>
              <a:rPr lang="ar-SA" sz="1050" b="0" dirty="0"/>
              <a:t>تم رفع أمر عمل و اعتماده</a:t>
            </a:r>
            <a:endParaRPr lang="en-US" sz="1050" b="0" dirty="0"/>
          </a:p>
        </p:txBody>
      </p:sp>
      <p:sp>
        <p:nvSpPr>
          <p:cNvPr id="87" name="Rectangle: Rounded Corners 86">
            <a:extLst>
              <a:ext uri="{FF2B5EF4-FFF2-40B4-BE49-F238E27FC236}">
                <ns2:creationId id="{DFDA59C0-81CB-C705-6E81-44F08533C1C9}"/>
              </a:ext>
            </a:extLst>
          </p:cNvPr>
          <p:cNvSpPr/>
          <p:nvPr/>
        </p:nvSpPr>
        <p:spPr>
          <a:xfrm>
            <a:off x="5594019" y="5618374"/>
            <a:ext cx="270254" cy="244274"/>
          </a:xfrm>
          <a:prstGeom prst="roundRect">
            <a:avLst/>
          </a:prstGeom>
          <a:solidFill>
            <a:srgbClr val="BB9D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: Rounded Corners 87">
            <a:extLst>
              <a:ext uri="{FF2B5EF4-FFF2-40B4-BE49-F238E27FC236}">
                <ns2:creationId id="{132860C1-A3DB-84F8-8D0B-CB3963478089}"/>
              </a:ext>
            </a:extLst>
          </p:cNvPr>
          <p:cNvSpPr/>
          <p:nvPr/>
        </p:nvSpPr>
        <p:spPr>
          <a:xfrm>
            <a:off x="5598356" y="5915613"/>
            <a:ext cx="270254" cy="244274"/>
          </a:xfrm>
          <a:prstGeom prst="roundRect">
            <a:avLst/>
          </a:prstGeom>
          <a:solidFill>
            <a:srgbClr val="BB9D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TextBox 89">
            <a:extLst>
              <a:ext uri="{FF2B5EF4-FFF2-40B4-BE49-F238E27FC236}">
                <ns2:creationId id="{98C27A13-8176-0472-8138-4CE2D3284111}"/>
              </a:ext>
            </a:extLst>
          </p:cNvPr>
          <p:cNvSpPr txBox="1"/>
          <p:nvPr/>
        </p:nvSpPr>
        <p:spPr>
          <a:xfrm>
            <a:off x="2310600" y="5354550"/>
            <a:ext cx="15784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 rtl="1">
              <a:defRPr sz="1200" b="1">
                <a:solidFill>
                  <a:srgbClr val="77777A"/>
                </a:solidFill>
                <a:latin typeface="Cairo" panose="00000500000000000000" pitchFamily="2" charset="-78"/>
                <a:cs typeface="Cairo" panose="00000500000000000000" pitchFamily="2" charset="-78"/>
              </a:defRPr>
            </a:lvl1pPr>
          </a:lstStyle>
          <a:p>
            <a:r>
              <a:rPr lang="ar-SA" sz="1050" b="0" dirty="0"/>
              <a:t>المطلوب</a:t>
            </a:r>
            <a:endParaRPr lang="en-US" sz="1050" b="0" dirty="0"/>
          </a:p>
        </p:txBody>
      </p:sp>
      <p:sp>
        <p:nvSpPr>
          <p:cNvPr id="91" name="TextBox 90">
            <a:extLst>
              <a:ext uri="{FF2B5EF4-FFF2-40B4-BE49-F238E27FC236}">
                <ns2:creationId id="{A74F733E-5FF3-4739-3415-D6D1E93531A1}"/>
              </a:ext>
            </a:extLst>
          </p:cNvPr>
          <p:cNvSpPr txBox="1"/>
          <p:nvPr/>
        </p:nvSpPr>
        <p:spPr>
          <a:xfrm>
            <a:off x="2342394" y="5930454"/>
            <a:ext cx="15784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 rtl="1">
              <a:defRPr sz="1200" b="1">
                <a:solidFill>
                  <a:srgbClr val="77777A"/>
                </a:solidFill>
                <a:latin typeface="Cairo" panose="00000500000000000000" pitchFamily="2" charset="-78"/>
                <a:cs typeface="Cairo" panose="00000500000000000000" pitchFamily="2" charset="-78"/>
              </a:defRPr>
            </a:lvl1pPr>
          </a:lstStyle>
          <a:p>
            <a:r>
              <a:rPr lang="ar-SA" sz="1050" b="0" dirty="0"/>
              <a:t>المنفذ</a:t>
            </a:r>
            <a:endParaRPr lang="en-US" sz="1050" b="0" dirty="0"/>
          </a:p>
        </p:txBody>
      </p:sp>
      <p:sp>
        <p:nvSpPr>
          <p:cNvPr id="94" name="Rectangle: Rounded Corners 93">
            <a:extLst>
              <a:ext uri="{FF2B5EF4-FFF2-40B4-BE49-F238E27FC236}">
                <ns2:creationId id="{9F83EBAB-6262-09DE-9D39-40D788DB5B4C}"/>
              </a:ext>
            </a:extLst>
          </p:cNvPr>
          <p:cNvSpPr/>
          <p:nvPr/>
        </p:nvSpPr>
        <p:spPr>
          <a:xfrm>
            <a:off x="1737839" y="5366016"/>
            <a:ext cx="270254" cy="244274"/>
          </a:xfrm>
          <a:prstGeom prst="roundRect">
            <a:avLst/>
          </a:prstGeom>
          <a:solidFill>
            <a:srgbClr val="BB9D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TextBox 95">
            <a:extLst>
              <a:ext uri="{FF2B5EF4-FFF2-40B4-BE49-F238E27FC236}">
                <ns2:creationId id="{C9FA4CD4-975D-1A4B-7701-8BDF53AA5352}"/>
              </a:ext>
            </a:extLst>
          </p:cNvPr>
          <p:cNvSpPr txBox="1"/>
          <p:nvPr/>
        </p:nvSpPr>
        <p:spPr>
          <a:xfrm>
            <a:off x="1270893" y="5616160"/>
            <a:ext cx="263444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 rtl="1">
              <a:defRPr sz="1200" b="1">
                <a:solidFill>
                  <a:srgbClr val="77777A"/>
                </a:solidFill>
                <a:latin typeface="Cairo" panose="00000500000000000000" pitchFamily="2" charset="-78"/>
                <a:cs typeface="Cairo" panose="00000500000000000000" pitchFamily="2" charset="-78"/>
              </a:defRPr>
            </a:lvl1pPr>
          </a:lstStyle>
          <a:p>
            <a:r>
              <a:rPr lang="ar-SA" sz="1050" b="0" dirty="0"/>
              <a:t>تم رفع أمر عمل و اعتماده</a:t>
            </a:r>
            <a:endParaRPr lang="en-US" sz="1050" b="0" dirty="0"/>
          </a:p>
        </p:txBody>
      </p:sp>
      <p:sp>
        <p:nvSpPr>
          <p:cNvPr id="112" name="Rectangle: Rounded Corners 111">
            <a:extLst>
              <a:ext uri="{FF2B5EF4-FFF2-40B4-BE49-F238E27FC236}">
                <ns2:creationId id="{A940D0AC-76A5-A633-50AD-F92503FF13B8}"/>
              </a:ext>
            </a:extLst>
          </p:cNvPr>
          <p:cNvSpPr/>
          <p:nvPr/>
        </p:nvSpPr>
        <p:spPr>
          <a:xfrm>
            <a:off x="1737839" y="5671339"/>
            <a:ext cx="270254" cy="244274"/>
          </a:xfrm>
          <a:prstGeom prst="roundRect">
            <a:avLst/>
          </a:prstGeom>
          <a:solidFill>
            <a:srgbClr val="BB9D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: Rounded Corners 112">
            <a:extLst>
              <a:ext uri="{FF2B5EF4-FFF2-40B4-BE49-F238E27FC236}">
                <ns2:creationId id="{658F2120-C61F-C8A7-EABD-E577A6228879}"/>
              </a:ext>
            </a:extLst>
          </p:cNvPr>
          <p:cNvSpPr/>
          <p:nvPr/>
        </p:nvSpPr>
        <p:spPr>
          <a:xfrm>
            <a:off x="1742176" y="5968578"/>
            <a:ext cx="270254" cy="244274"/>
          </a:xfrm>
          <a:prstGeom prst="roundRect">
            <a:avLst/>
          </a:prstGeom>
          <a:solidFill>
            <a:srgbClr val="BB9D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TextBox 113">
            <a:extLst>
              <a:ext uri="{FF2B5EF4-FFF2-40B4-BE49-F238E27FC236}">
                <ns2:creationId id="{8D5204CB-F89F-B06D-CE78-6E7A110C704F}"/>
              </a:ext>
            </a:extLst>
          </p:cNvPr>
          <p:cNvSpPr txBox="1"/>
          <p:nvPr/>
        </p:nvSpPr>
        <p:spPr>
          <a:xfrm>
            <a:off x="5579477" y="5295682"/>
            <a:ext cx="2399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4</a:t>
            </a:r>
          </a:p>
        </p:txBody>
      </p:sp>
      <p:sp>
        <p:nvSpPr>
          <p:cNvPr id="115" name="TextBox 114">
            <a:extLst>
              <a:ext uri="{FF2B5EF4-FFF2-40B4-BE49-F238E27FC236}">
                <ns2:creationId id="{CBD3B72C-801C-CABB-C1DB-22D3CF6BBE85}"/>
              </a:ext>
            </a:extLst>
          </p:cNvPr>
          <p:cNvSpPr txBox="1"/>
          <p:nvPr/>
        </p:nvSpPr>
        <p:spPr>
          <a:xfrm>
            <a:off x="5590299" y="5611095"/>
            <a:ext cx="229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4</a:t>
            </a:r>
          </a:p>
        </p:txBody>
      </p:sp>
      <p:sp>
        <p:nvSpPr>
          <p:cNvPr id="116" name="TextBox 115">
            <a:extLst>
              <a:ext uri="{FF2B5EF4-FFF2-40B4-BE49-F238E27FC236}">
                <ns2:creationId id="{5EE2B145-D040-B663-A076-4A64F9AB8CEC}"/>
              </a:ext>
            </a:extLst>
          </p:cNvPr>
          <p:cNvSpPr txBox="1"/>
          <p:nvPr/>
        </p:nvSpPr>
        <p:spPr>
          <a:xfrm>
            <a:off x="5598913" y="5915613"/>
            <a:ext cx="229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0</a:t>
            </a:r>
          </a:p>
        </p:txBody>
      </p:sp>
      <p:sp>
        <p:nvSpPr>
          <p:cNvPr id="117" name="TextBox 116">
            <a:extLst>
              <a:ext uri="{FF2B5EF4-FFF2-40B4-BE49-F238E27FC236}">
                <ns2:creationId id="{F19F2C26-7ABF-DE5B-521F-8C7E690F0A67}"/>
              </a:ext>
            </a:extLst>
          </p:cNvPr>
          <p:cNvSpPr txBox="1"/>
          <p:nvPr/>
        </p:nvSpPr>
        <p:spPr>
          <a:xfrm>
            <a:off x="1732425" y="5342839"/>
            <a:ext cx="2399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2</a:t>
            </a:r>
          </a:p>
        </p:txBody>
      </p:sp>
      <p:sp>
        <p:nvSpPr>
          <p:cNvPr id="118" name="TextBox 117">
            <a:extLst>
              <a:ext uri="{FF2B5EF4-FFF2-40B4-BE49-F238E27FC236}">
                <ns2:creationId id="{3D0BFD67-86D8-EE50-9A8E-49AA890E5BC0}"/>
              </a:ext>
            </a:extLst>
          </p:cNvPr>
          <p:cNvSpPr txBox="1"/>
          <p:nvPr/>
        </p:nvSpPr>
        <p:spPr>
          <a:xfrm>
            <a:off x="1725410" y="5657000"/>
            <a:ext cx="229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1</a:t>
            </a:r>
          </a:p>
        </p:txBody>
      </p:sp>
      <p:sp>
        <p:nvSpPr>
          <p:cNvPr id="119" name="TextBox 118">
            <a:extLst>
              <a:ext uri="{FF2B5EF4-FFF2-40B4-BE49-F238E27FC236}">
                <ns2:creationId id="{A828A372-9A2B-0C07-2C09-96A6DC98B612}"/>
              </a:ext>
            </a:extLst>
          </p:cNvPr>
          <p:cNvSpPr txBox="1"/>
          <p:nvPr/>
        </p:nvSpPr>
        <p:spPr>
          <a:xfrm>
            <a:off x="1744570" y="5963432"/>
            <a:ext cx="229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0</a:t>
            </a:r>
          </a:p>
        </p:txBody>
      </p:sp>
      <p:cxnSp>
        <p:nvCxnSpPr>
          <p:cNvPr id="121" name="Straight Connector 120">
            <a:extLst>
              <a:ext uri="{FF2B5EF4-FFF2-40B4-BE49-F238E27FC236}">
                <ns2:creationId id="{1D8C3E3A-2F42-29FD-EE73-91686B3883A8}"/>
              </a:ext>
            </a:extLst>
          </p:cNvPr>
          <p:cNvCxnSpPr/>
          <p:nvPr/>
        </p:nvCxnSpPr>
        <p:spPr>
          <a:xfrm>
            <a:off x="8102511" y="5039185"/>
            <a:ext cx="0" cy="1269552"/>
          </a:xfrm>
          <a:prstGeom prst="line">
            <a:avLst/>
          </a:prstGeom>
          <a:ln>
            <a:solidFill>
              <a:srgbClr val="77777A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ns2:creationId id="{F5516153-703E-484F-751E-F2F62B8999FE}"/>
              </a:ext>
            </a:extLst>
          </p:cNvPr>
          <p:cNvCxnSpPr/>
          <p:nvPr/>
        </p:nvCxnSpPr>
        <p:spPr>
          <a:xfrm>
            <a:off x="4351000" y="5017094"/>
            <a:ext cx="0" cy="1269552"/>
          </a:xfrm>
          <a:prstGeom prst="line">
            <a:avLst/>
          </a:prstGeom>
          <a:ln>
            <a:solidFill>
              <a:srgbClr val="77777A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4" name="Group 123">
            <a:extLst>
              <a:ext uri="{FF2B5EF4-FFF2-40B4-BE49-F238E27FC236}">
                <ns2:creationId id="{73CE8837-F420-E330-FAF4-8A3F93127DB2}"/>
              </a:ext>
            </a:extLst>
          </p:cNvPr>
          <p:cNvGrpSpPr/>
          <p:nvPr/>
        </p:nvGrpSpPr>
        <p:grpSpPr>
          <a:xfrm>
            <a:off x="5292076" y="1150322"/>
            <a:ext cx="2861787" cy="320653"/>
            <a:chOff x="5266085" y="1151304"/>
            <a:chExt cx="3738614" cy="276999"/>
          </a:xfrm>
        </p:grpSpPr>
        <p:sp>
          <p:nvSpPr>
            <p:cNvPr id="75" name="TextBox 74">
              <a:extLst>
                <a:ext uri="{FF2B5EF4-FFF2-40B4-BE49-F238E27FC236}">
                  <ns2:creationId id="{8CE1DB29-F6B8-41CE-8ECF-12B2ACC34CBF}"/>
                </a:ext>
              </a:extLst>
            </p:cNvPr>
            <p:cNvSpPr txBox="1"/>
            <p:nvPr/>
          </p:nvSpPr>
          <p:spPr>
            <a:xfrm>
              <a:off x="5801706" y="1151304"/>
              <a:ext cx="320299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200" b="1">
                  <a:solidFill>
                    <a:srgbClr val="77777A"/>
                  </a:solidFill>
                  <a:latin typeface="Cairo" panose="00000500000000000000" pitchFamily="2" charset="-78"/>
                  <a:cs typeface="Cairo" panose="00000500000000000000" pitchFamily="2" charset="-78"/>
                </a:defRPr>
              </a:lvl1pPr>
            </a:lstStyle>
            <a:p>
              <a:r>
                <a:rPr lang="ar-SA" dirty="0"/>
                <a:t>عدد ملاحظات السلامة المرصودة</a:t>
              </a:r>
              <a:endParaRPr lang="en-US" dirty="0"/>
            </a:p>
          </p:txBody>
        </p:sp>
        <p:sp>
          <p:nvSpPr>
            <p:cNvPr id="123" name="TextBox 122">
              <a:extLst>
                <a:ext uri="{FF2B5EF4-FFF2-40B4-BE49-F238E27FC236}">
                  <ns2:creationId id="{CD4FD498-9F75-0E9C-9478-91D6DCB54BD9}"/>
                </a:ext>
              </a:extLst>
            </p:cNvPr>
            <p:cNvSpPr txBox="1"/>
            <p:nvPr/>
          </p:nvSpPr>
          <p:spPr>
            <a:xfrm>
              <a:off x="5266085" y="1157556"/>
              <a:ext cx="688408" cy="2392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200" b="1">
                  <a:solidFill>
                    <a:srgbClr val="77777A"/>
                  </a:solidFill>
                  <a:latin typeface="Cairo" panose="00000500000000000000" pitchFamily="2" charset="-78"/>
                  <a:cs typeface="Cairo" panose="00000500000000000000" pitchFamily="2" charset="-78"/>
                </a:defRPr>
              </a:lvl1pPr>
            </a:lstStyle>
            <a:p>
              <a:r>
                <a:rPr lang="en-US" dirty="0"/>
                <a:t>SOR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ns2:creationId id="{49D9195B-7F8A-DC39-E996-33F4BD977FFF}"/>
              </a:ext>
            </a:extLst>
          </p:cNvPr>
          <p:cNvSpPr txBox="1"/>
          <p:nvPr/>
        </p:nvSpPr>
        <p:spPr>
          <a:xfrm>
            <a:off x="382377" y="443236"/>
            <a:ext cx="7953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 rtl="1">
              <a:defRPr sz="1100" b="1">
                <a:solidFill>
                  <a:schemeClr val="bg1"/>
                </a:solidFill>
                <a:latin typeface="Cairo" panose="00000500000000000000" pitchFamily="2" charset="-78"/>
                <a:cs typeface="Cairo" panose="00000500000000000000" pitchFamily="2" charset="-78"/>
              </a:defRPr>
            </a:lvl1pPr>
          </a:lstStyle>
          <a:p>
            <a:r>
              <a:rPr lang="ar-SA" dirty="0"/>
              <a:t>(يونيو)</a:t>
            </a:r>
            <a:endParaRPr lang="en-US" dirty="0"/>
          </a:p>
        </p:txBody>
      </p:sp>
      <p:grpSp>
        <p:nvGrpSpPr>
          <p:cNvPr id="31" name="Group 30">
            <a:extLst>
              <a:ext uri="{FF2B5EF4-FFF2-40B4-BE49-F238E27FC236}">
                <ns2:creationId id="{BE64A6F3-D896-BAD8-2CC3-A3BA29AF7C23}"/>
              </a:ext>
            </a:extLst>
          </p:cNvPr>
          <p:cNvGrpSpPr/>
          <p:nvPr/>
        </p:nvGrpSpPr>
        <p:grpSpPr>
          <a:xfrm>
            <a:off x="4825270" y="2757850"/>
            <a:ext cx="3257628" cy="501113"/>
            <a:chOff x="4825270" y="2757850"/>
            <a:chExt cx="3257628" cy="501113"/>
          </a:xfrm>
        </p:grpSpPr>
        <p:sp>
          <p:nvSpPr>
            <p:cNvPr id="32" name="TextBox 31">
              <a:extLst>
                <a:ext uri="{FF2B5EF4-FFF2-40B4-BE49-F238E27FC236}">
                  <ns2:creationId id="{B1A93D30-CFD7-6974-C42D-01200CFA24D3}"/>
                </a:ext>
              </a:extLst>
            </p:cNvPr>
            <p:cNvSpPr txBox="1"/>
            <p:nvPr/>
          </p:nvSpPr>
          <p:spPr>
            <a:xfrm>
              <a:off x="4825270" y="2757850"/>
              <a:ext cx="32576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200" b="1">
                  <a:solidFill>
                    <a:srgbClr val="77777A"/>
                  </a:solidFill>
                  <a:latin typeface="Cairo" panose="00000500000000000000" pitchFamily="2" charset="-78"/>
                  <a:cs typeface="Cairo" panose="00000500000000000000" pitchFamily="2" charset="-78"/>
                </a:defRPr>
              </a:lvl1pPr>
            </a:lstStyle>
            <a:p>
              <a:pPr algn="r" rtl="1"/>
              <a:r>
                <a:rPr lang="ar-SA" dirty="0"/>
                <a:t>تقييم شبكة الطرق</a:t>
              </a:r>
              <a:r>
                <a:rPr lang="en-US" dirty="0"/>
                <a:t> </a:t>
              </a:r>
              <a:r>
                <a:rPr lang="ar-SA" dirty="0"/>
                <a:t>بالمنطقة: </a:t>
              </a:r>
              <a:endParaRPr lang="en-US" dirty="0"/>
            </a:p>
          </p:txBody>
        </p:sp>
        <p:sp>
          <p:nvSpPr>
            <p:cNvPr id="28" name="TextBox 27">
              <a:extLst>
                <a:ext uri="{FF2B5EF4-FFF2-40B4-BE49-F238E27FC236}">
                  <ns2:creationId id="{D6F07C84-1C92-C272-8F1D-6F31DCD88467}"/>
                </a:ext>
              </a:extLst>
            </p:cNvPr>
            <p:cNvSpPr txBox="1"/>
            <p:nvPr/>
          </p:nvSpPr>
          <p:spPr>
            <a:xfrm>
              <a:off x="7263608" y="2981964"/>
              <a:ext cx="7818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r" rtl="1">
                <a:defRPr sz="1200" b="1">
                  <a:solidFill>
                    <a:srgbClr val="77777A"/>
                  </a:solidFill>
                  <a:latin typeface="Cairo" panose="00000500000000000000" pitchFamily="2" charset="-78"/>
                  <a:cs typeface="Cairo" panose="00000500000000000000" pitchFamily="2" charset="-78"/>
                </a:defRPr>
              </a:lvl1pPr>
            </a:lstStyle>
            <a:p>
              <a:r>
                <a:rPr lang="en-US" dirty="0"/>
                <a:t>IRAP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ns2:creationId id="{F11D5DB7-833F-A30A-80CD-C05F8825207A}"/>
              </a:ext>
            </a:extLst>
          </p:cNvPr>
          <p:cNvSpPr txBox="1"/>
          <p:nvPr/>
        </p:nvSpPr>
        <p:spPr>
          <a:xfrm>
            <a:off x="382377" y="6399569"/>
            <a:ext cx="12616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SA" sz="1050" b="1" dirty="0">
                <a:solidFill>
                  <a:srgbClr val="BB9D14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صفحة 1</a:t>
            </a:r>
            <a:endParaRPr lang="en-US" sz="1050" b="1" dirty="0">
              <a:solidFill>
                <a:srgbClr val="BB9D14"/>
              </a:solidFill>
              <a:latin typeface="Cairo" panose="00000500000000000000" pitchFamily="2" charset="-78"/>
              <a:cs typeface="Cairo" panose="00000500000000000000" pitchFamily="2" charset="-78"/>
            </a:endParaRPr>
          </a:p>
        </p:txBody>
      </p:sp>
      <p:sp>
        <p:nvSpPr>
          <p:cNvPr id="37" name="TextBox 36">
            <a:extLst>
              <a:ext uri="{FF2B5EF4-FFF2-40B4-BE49-F238E27FC236}">
                <ns2:creationId id="{B3BFAA7E-BCF3-5335-59FD-1AF67C046C11}"/>
              </a:ext>
            </a:extLst>
          </p:cNvPr>
          <p:cNvSpPr txBox="1"/>
          <p:nvPr/>
        </p:nvSpPr>
        <p:spPr>
          <a:xfrm>
            <a:off x="7111188" y="6404595"/>
            <a:ext cx="45982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 rtl="1">
              <a:defRPr sz="1050" b="0">
                <a:solidFill>
                  <a:srgbClr val="77777A"/>
                </a:solidFill>
                <a:latin typeface="Cairo" panose="00000500000000000000" pitchFamily="2" charset="-78"/>
                <a:cs typeface="Cairo" panose="00000500000000000000" pitchFamily="2" charset="-78"/>
              </a:defRPr>
            </a:lvl1pPr>
          </a:lstStyle>
          <a:p>
            <a:r>
              <a:rPr lang="ar-SA" sz="800" b="1" dirty="0">
                <a:solidFill>
                  <a:srgbClr val="BB9D14"/>
                </a:solidFill>
              </a:rPr>
              <a:t>(التفاصيل الإضافية-يتم ذكرها في الصفحة التالية مع الترميز (*,**,***))</a:t>
            </a:r>
            <a:endParaRPr lang="en-US" sz="800" b="1" dirty="0">
              <a:solidFill>
                <a:srgbClr val="BB9D14"/>
              </a:solidFill>
            </a:endParaRPr>
          </a:p>
        </p:txBody>
      </p:sp>
      <p:sp>
        <p:nvSpPr>
          <p:cNvPr id="39" name="مربع نص 38">
            <a:extLst>
              <a:ext uri="{FF2B5EF4-FFF2-40B4-BE49-F238E27FC236}">
                <ns2:creationId id="{22F32ABE-DFA6-A0A9-6FB7-73D6EBBE6EE0}"/>
              </a:ext>
            </a:extLst>
          </p:cNvPr>
          <p:cNvSpPr txBox="1"/>
          <p:nvPr/>
        </p:nvSpPr>
        <p:spPr>
          <a:xfrm>
            <a:off x="2183369" y="2387181"/>
            <a:ext cx="6464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SA" sz="1000" dirty="0"/>
              <a:t>هذا الشهر</a:t>
            </a:r>
            <a:endParaRPr lang="en-US" sz="1000" dirty="0"/>
          </a:p>
        </p:txBody>
      </p:sp>
    </p:spTree>
    <p:extLst>
      <p:ext uri="{BB962C8B-B14F-4D97-AF65-F5344CB8AC3E}">
        <ns3:creationId val="682716211"/>
      </p:ext>
    </p:extLst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drawing/2016/SVG/main" xmlns:ns6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ns2:creationId id="{3DAA7F0E-BA07-5276-E357-5FD06186F04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777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ns2:creationId id="{C273A3C6-9900-1BD4-19DB-E77ED59AEC4D}"/>
              </a:ext>
            </a:extLst>
          </p:cNvPr>
          <p:cNvSpPr/>
          <p:nvPr/>
        </p:nvSpPr>
        <p:spPr>
          <a:xfrm>
            <a:off x="292963" y="923278"/>
            <a:ext cx="11606074" cy="57914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ns2:creationId id="{54033BF1-AFE7-4DAF-79D6-D38743D5A77C}"/>
              </a:ext>
            </a:extLst>
          </p:cNvPr>
          <p:cNvSpPr/>
          <p:nvPr/>
        </p:nvSpPr>
        <p:spPr>
          <a:xfrm>
            <a:off x="10090746" y="323927"/>
            <a:ext cx="77555" cy="382782"/>
          </a:xfrm>
          <a:prstGeom prst="rect">
            <a:avLst/>
          </a:prstGeom>
          <a:solidFill>
            <a:srgbClr val="BB9D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ns2:creationId id="{17BB2A19-94E7-8DCE-E43F-EE5D99208AFF}"/>
              </a:ext>
            </a:extLst>
          </p:cNvPr>
          <p:cNvSpPr txBox="1"/>
          <p:nvPr/>
        </p:nvSpPr>
        <p:spPr>
          <a:xfrm>
            <a:off x="4994363" y="336576"/>
            <a:ext cx="5140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SA" b="1" dirty="0">
                <a:solidFill>
                  <a:schemeClr val="bg1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بطاقة أداء السلامة </a:t>
            </a:r>
            <a:r>
              <a:rPr lang="ar-SA" b="1" dirty="0">
                <a:solidFill>
                  <a:schemeClr val="bg1"/>
                </a:solidFill>
                <a:cs typeface="Cairo" panose="00000500000000000000" pitchFamily="2" charset="-78"/>
              </a:rPr>
              <a:t>بمنطقة (تبوك)</a:t>
            </a:r>
            <a:endParaRPr lang="en-US" b="1" dirty="0">
              <a:solidFill>
                <a:schemeClr val="bg1"/>
              </a:solidFill>
              <a:cs typeface="Cairo" panose="00000500000000000000" pitchFamily="2" charset="-78"/>
            </a:endParaRPr>
          </a:p>
        </p:txBody>
      </p:sp>
      <p:sp>
        <p:nvSpPr>
          <p:cNvPr id="11" name="TextBox 10">
            <a:extLst>
              <a:ext uri="{FF2B5EF4-FFF2-40B4-BE49-F238E27FC236}">
                <ns2:creationId id="{B10113CB-C539-2F16-5234-6A66DDC21645}"/>
              </a:ext>
            </a:extLst>
          </p:cNvPr>
          <p:cNvSpPr txBox="1"/>
          <p:nvPr/>
        </p:nvSpPr>
        <p:spPr>
          <a:xfrm>
            <a:off x="1262271" y="177987"/>
            <a:ext cx="22163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1100" b="1" dirty="0">
                <a:solidFill>
                  <a:schemeClr val="bg1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اسم كبير المهندسين: م حســـان الــحلــبي</a:t>
            </a:r>
          </a:p>
          <a:p>
            <a:pPr algn="r" rtl="1"/>
            <a:endParaRPr lang="ar-SA" sz="1100" b="1" dirty="0">
              <a:solidFill>
                <a:schemeClr val="bg1"/>
              </a:solidFill>
              <a:latin typeface="Cairo" panose="00000500000000000000" pitchFamily="2" charset="-78"/>
              <a:cs typeface="Cairo" panose="00000500000000000000" pitchFamily="2" charset="-78"/>
            </a:endParaRPr>
          </a:p>
        </p:txBody>
      </p:sp>
      <p:sp>
        <p:nvSpPr>
          <p:cNvPr id="12" name="Rectangle 11">
            <a:extLst>
              <a:ext uri="{FF2B5EF4-FFF2-40B4-BE49-F238E27FC236}">
                <ns2:creationId id="{4B2C7B66-1619-4488-E131-C79788DA6196}"/>
              </a:ext>
            </a:extLst>
          </p:cNvPr>
          <p:cNvSpPr/>
          <p:nvPr/>
        </p:nvSpPr>
        <p:spPr>
          <a:xfrm>
            <a:off x="292963" y="143270"/>
            <a:ext cx="3185668" cy="563439"/>
          </a:xfrm>
          <a:prstGeom prst="rect">
            <a:avLst/>
          </a:prstGeom>
          <a:noFill/>
          <a:ln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 descr="Research">
            <a:extLst>
              <a:ext uri="{FF2B5EF4-FFF2-40B4-BE49-F238E27FC236}">
                <ns2:creationId id="{FE1D344B-AA21-A082-5036-A96B7439BE05}"/>
              </a:ext>
            </a:extLst>
          </p:cNvPr>
          <p:cNvPicPr>
            <a:picLocks noChangeAspect="1"/>
          </p:cNvPicPr>
          <p:nvPr/>
        </p:nvPicPr>
        <p:blipFill>
          <a:blip ns3:embed="rId2">
            <a:extLst>
              <a:ext uri="{28A0092B-C50C-407E-A947-70E740481C1C}">
                <ns4:useLocalDpi val="0"/>
              </a:ext>
              <a:ext uri="{96DAC541-7B7A-43D3-8B79-37D633B846F1}">
                <ns5:svgBlip ns3:embed="rId3"/>
              </a:ext>
            </a:extLst>
          </a:blip>
          <a:stretch>
            <a:fillRect/>
          </a:stretch>
        </p:blipFill>
        <p:spPr>
          <a:xfrm>
            <a:off x="3550375" y="312116"/>
            <a:ext cx="406404" cy="40640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ns2:creationId id="{24B327E4-EF59-0189-E770-310F09E66EC3}"/>
              </a:ext>
            </a:extLst>
          </p:cNvPr>
          <p:cNvPicPr>
            <a:picLocks noChangeAspect="1"/>
          </p:cNvPicPr>
          <p:nvPr/>
        </p:nvPicPr>
        <p:blipFill>
          <a:blip ns3:embed="rId4">
            <a:extLst>
              <a:ext uri="{28A0092B-C50C-407E-A947-70E740481C1C}">
                <ns4:useLocalDpi val="0"/>
              </a:ext>
            </a:extLst>
          </a:blip>
          <a:srcRect l="25015" r="22841" b="40723"/>
          <a:stretch/>
        </p:blipFill>
        <p:spPr>
          <a:xfrm>
            <a:off x="10226363" y="-637799"/>
            <a:ext cx="1772305" cy="142610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ns2:creationId id="{95D0858D-9202-1A70-765E-CCFEAEA83312}"/>
              </a:ext>
            </a:extLst>
          </p:cNvPr>
          <p:cNvSpPr txBox="1"/>
          <p:nvPr/>
        </p:nvSpPr>
        <p:spPr>
          <a:xfrm>
            <a:off x="1245519" y="430769"/>
            <a:ext cx="22163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1100" b="1" dirty="0">
                <a:solidFill>
                  <a:schemeClr val="bg1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التاريخ:</a:t>
            </a:r>
            <a:r>
              <a:rPr lang="en-US" sz="1100" b="1" dirty="0">
                <a:solidFill>
                  <a:schemeClr val="bg1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03/07/2025</a:t>
            </a:r>
            <a:endParaRPr lang="ar-SA" sz="1100" b="1" dirty="0">
              <a:solidFill>
                <a:schemeClr val="bg1"/>
              </a:solidFill>
              <a:latin typeface="Cairo" panose="00000500000000000000" pitchFamily="2" charset="-78"/>
              <a:cs typeface="Cairo" panose="00000500000000000000" pitchFamily="2" charset="-78"/>
            </a:endParaRPr>
          </a:p>
          <a:p>
            <a:pPr algn="r" rtl="1"/>
            <a:endParaRPr lang="ar-SA" sz="1100" b="1" dirty="0">
              <a:solidFill>
                <a:schemeClr val="bg1"/>
              </a:solidFill>
              <a:latin typeface="Cairo" panose="00000500000000000000" pitchFamily="2" charset="-78"/>
              <a:cs typeface="Cairo" panose="00000500000000000000" pitchFamily="2" charset="-78"/>
            </a:endParaRPr>
          </a:p>
        </p:txBody>
      </p:sp>
      <p:sp>
        <p:nvSpPr>
          <p:cNvPr id="16" name="TextBox 15">
            <a:extLst>
              <a:ext uri="{FF2B5EF4-FFF2-40B4-BE49-F238E27FC236}">
                <ns2:creationId id="{62CB422B-EB7C-7AB6-1C34-DFA9D536825D}"/>
              </a:ext>
            </a:extLst>
          </p:cNvPr>
          <p:cNvSpPr txBox="1"/>
          <p:nvPr/>
        </p:nvSpPr>
        <p:spPr>
          <a:xfrm>
            <a:off x="858537" y="435758"/>
            <a:ext cx="69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 rtl="1">
              <a:defRPr sz="1100" b="1">
                <a:solidFill>
                  <a:schemeClr val="bg1"/>
                </a:solidFill>
                <a:latin typeface="Cairo" panose="00000500000000000000" pitchFamily="2" charset="-78"/>
                <a:cs typeface="Cairo" panose="00000500000000000000" pitchFamily="2" charset="-78"/>
              </a:defRPr>
            </a:lvl1pPr>
          </a:lstStyle>
          <a:p>
            <a:r>
              <a:rPr lang="ar-SA" dirty="0"/>
              <a:t>شهر :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ns2:creationId id="{B3A0DE7F-9738-B28F-9EB9-3F22C0EE19B9}"/>
              </a:ext>
            </a:extLst>
          </p:cNvPr>
          <p:cNvSpPr/>
          <p:nvPr/>
        </p:nvSpPr>
        <p:spPr>
          <a:xfrm>
            <a:off x="6161464" y="1015096"/>
            <a:ext cx="5449510" cy="27411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ns2:creationId id="{90E4B552-960B-471B-EE9C-9F3FB53A795B}"/>
              </a:ext>
            </a:extLst>
          </p:cNvPr>
          <p:cNvSpPr/>
          <p:nvPr/>
        </p:nvSpPr>
        <p:spPr>
          <a:xfrm>
            <a:off x="382377" y="1018825"/>
            <a:ext cx="5648161" cy="27373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ns2:creationId id="{774F9E8A-A847-BA17-7051-5D17B904C5BE}"/>
              </a:ext>
            </a:extLst>
          </p:cNvPr>
          <p:cNvSpPr txBox="1"/>
          <p:nvPr/>
        </p:nvSpPr>
        <p:spPr>
          <a:xfrm>
            <a:off x="9808607" y="1246463"/>
            <a:ext cx="2216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SA" sz="1400" b="1" dirty="0">
                <a:solidFill>
                  <a:srgbClr val="77777A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اهم تحديات الشهر:</a:t>
            </a:r>
            <a:endParaRPr lang="en-US" sz="1400" b="1" dirty="0">
              <a:solidFill>
                <a:srgbClr val="77777A"/>
              </a:solidFill>
              <a:latin typeface="Cairo" panose="00000500000000000000" pitchFamily="2" charset="-78"/>
              <a:cs typeface="Cairo" panose="00000500000000000000" pitchFamily="2" charset="-78"/>
            </a:endParaRPr>
          </a:p>
        </p:txBody>
      </p:sp>
      <p:sp>
        <p:nvSpPr>
          <p:cNvPr id="20" name="TextBox 19">
            <a:extLst>
              <a:ext uri="{FF2B5EF4-FFF2-40B4-BE49-F238E27FC236}">
                <ns2:creationId id="{1302D78A-6BB6-3E13-23E1-8187B5BF9E3C}"/>
              </a:ext>
            </a:extLst>
          </p:cNvPr>
          <p:cNvSpPr txBox="1"/>
          <p:nvPr/>
        </p:nvSpPr>
        <p:spPr>
          <a:xfrm>
            <a:off x="4207983" y="1246463"/>
            <a:ext cx="2216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SA" sz="1400" b="1" dirty="0">
                <a:solidFill>
                  <a:srgbClr val="77777A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اهم إنجازات الشهر:</a:t>
            </a:r>
            <a:endParaRPr lang="en-US" sz="1400" b="1" dirty="0">
              <a:solidFill>
                <a:srgbClr val="77777A"/>
              </a:solidFill>
              <a:latin typeface="Cairo" panose="00000500000000000000" pitchFamily="2" charset="-78"/>
              <a:cs typeface="Cairo" panose="00000500000000000000" pitchFamily="2" charset="-78"/>
            </a:endParaRPr>
          </a:p>
        </p:txBody>
      </p:sp>
      <p:sp>
        <p:nvSpPr>
          <p:cNvPr id="22" name="TextBox 21">
            <a:extLst>
              <a:ext uri="{FF2B5EF4-FFF2-40B4-BE49-F238E27FC236}">
                <ns2:creationId id="{BDF07642-012C-006C-86E0-C5826E861263}"/>
              </a:ext>
            </a:extLst>
          </p:cNvPr>
          <p:cNvSpPr txBox="1"/>
          <p:nvPr/>
        </p:nvSpPr>
        <p:spPr>
          <a:xfrm>
            <a:off x="780047" y="1490094"/>
            <a:ext cx="5066259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SA" sz="1100" dirty="0">
                <a:solidFill>
                  <a:srgbClr val="77777A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مراجعه اولية لمخططات تحويلات البحر الاحمر للمرحلة الرابعة.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SA" sz="1100" dirty="0">
                <a:solidFill>
                  <a:srgbClr val="77777A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المتابعة والتوجيه لرفع جودة السلامة بالتحويلات.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SA" sz="1100" dirty="0">
                <a:solidFill>
                  <a:srgbClr val="77777A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رصد عدد 40 ملاحظات سلامة واعداد التقارير اللازمة.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SA" sz="1100" dirty="0">
                <a:solidFill>
                  <a:srgbClr val="77777A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تجديد تصاريح العمل المنتهية بالتنسيق مع ادارة الصيانة .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SA" sz="1100" dirty="0">
                <a:solidFill>
                  <a:srgbClr val="77777A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/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SA" sz="1100" dirty="0">
                <a:solidFill>
                  <a:srgbClr val="77777A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/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SA" sz="1100" dirty="0">
                <a:solidFill>
                  <a:srgbClr val="77777A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/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SA" sz="1100" dirty="0">
                <a:solidFill>
                  <a:srgbClr val="77777A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/>
            </a:r>
            <a:endParaRPr lang="en-US" sz="1100" dirty="0">
              <a:solidFill>
                <a:srgbClr val="77777A"/>
              </a:solidFill>
              <a:latin typeface="Cairo" panose="00000500000000000000" pitchFamily="2" charset="-78"/>
              <a:cs typeface="Cairo" panose="00000500000000000000" pitchFamily="2" charset="-78"/>
            </a:endParaRP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SA" sz="1100" dirty="0">
                <a:solidFill>
                  <a:srgbClr val="77777A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/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SA" sz="1100" dirty="0">
                <a:solidFill>
                  <a:srgbClr val="77777A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/>
            </a:r>
            <a:r>
              <a:rPr lang="ar-SA" sz="1100" dirty="0" err="1">
                <a:solidFill>
                  <a:srgbClr val="77777A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/>
            </a:r>
            <a:endParaRPr lang="ar-SA" sz="1100" dirty="0">
              <a:solidFill>
                <a:srgbClr val="77777A"/>
              </a:solidFill>
              <a:latin typeface="Cairo" panose="00000500000000000000" pitchFamily="2" charset="-78"/>
              <a:cs typeface="Cairo" panose="00000500000000000000" pitchFamily="2" charset="-78"/>
            </a:endParaRPr>
          </a:p>
          <a:p>
            <a:pPr marL="285750" indent="-285750" algn="r" rtl="1">
              <a:buFont typeface="Arial" panose="020B0604020202020204" pitchFamily="34" charset="0"/>
              <a:buChar char="•"/>
            </a:pPr>
            <a:endParaRPr lang="ar-SA" sz="1200" dirty="0">
              <a:solidFill>
                <a:srgbClr val="77777A"/>
              </a:solidFill>
              <a:latin typeface="Cairo" panose="00000500000000000000" pitchFamily="2" charset="-78"/>
              <a:cs typeface="Cairo" panose="00000500000000000000" pitchFamily="2" charset="-78"/>
            </a:endParaRPr>
          </a:p>
        </p:txBody>
      </p:sp>
      <p:sp>
        <p:nvSpPr>
          <p:cNvPr id="23" name="Rectangle 22">
            <a:extLst>
              <a:ext uri="{FF2B5EF4-FFF2-40B4-BE49-F238E27FC236}">
                <ns2:creationId id="{37F8F4C6-2B1A-34F0-A64A-FE8429A1EB59}"/>
              </a:ext>
            </a:extLst>
          </p:cNvPr>
          <p:cNvSpPr/>
          <p:nvPr/>
        </p:nvSpPr>
        <p:spPr>
          <a:xfrm>
            <a:off x="382377" y="3829612"/>
            <a:ext cx="5648161" cy="27778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ns2:creationId id="{2EE9AE3B-0541-3A91-7039-E0843E063039}"/>
              </a:ext>
            </a:extLst>
          </p:cNvPr>
          <p:cNvSpPr txBox="1"/>
          <p:nvPr/>
        </p:nvSpPr>
        <p:spPr>
          <a:xfrm>
            <a:off x="382377" y="6345896"/>
            <a:ext cx="12616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SA" sz="1050" b="1" dirty="0">
                <a:solidFill>
                  <a:srgbClr val="BB9D14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صفحة 2</a:t>
            </a:r>
            <a:endParaRPr lang="en-US" sz="1050" b="1" dirty="0">
              <a:solidFill>
                <a:srgbClr val="BB9D14"/>
              </a:solidFill>
              <a:latin typeface="Cairo" panose="00000500000000000000" pitchFamily="2" charset="-78"/>
              <a:cs typeface="Cairo" panose="00000500000000000000" pitchFamily="2" charset="-78"/>
            </a:endParaRPr>
          </a:p>
        </p:txBody>
      </p:sp>
      <p:sp>
        <p:nvSpPr>
          <p:cNvPr id="6" name="Rectangle 5">
            <a:extLst>
              <a:ext uri="{FF2B5EF4-FFF2-40B4-BE49-F238E27FC236}">
                <ns2:creationId id="{C567407A-8270-3F22-8E9A-F7A5EACB0102}"/>
              </a:ext>
            </a:extLst>
          </p:cNvPr>
          <p:cNvSpPr/>
          <p:nvPr/>
        </p:nvSpPr>
        <p:spPr>
          <a:xfrm>
            <a:off x="6161464" y="3850394"/>
            <a:ext cx="5449510" cy="27571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ns2:creationId id="{0DB7E937-1DAB-21F1-A24A-67BA6D3E96BB}"/>
              </a:ext>
            </a:extLst>
          </p:cNvPr>
          <p:cNvSpPr txBox="1"/>
          <p:nvPr/>
        </p:nvSpPr>
        <p:spPr>
          <a:xfrm>
            <a:off x="9243689" y="4070616"/>
            <a:ext cx="2216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SA" sz="1400" b="1" dirty="0">
                <a:solidFill>
                  <a:srgbClr val="77777A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مستهدفات الشهر القادم:</a:t>
            </a:r>
            <a:endParaRPr lang="en-US" sz="1400" b="1" dirty="0">
              <a:solidFill>
                <a:srgbClr val="77777A"/>
              </a:solidFill>
              <a:latin typeface="Cairo" panose="00000500000000000000" pitchFamily="2" charset="-78"/>
              <a:cs typeface="Cairo" panose="00000500000000000000" pitchFamily="2" charset="-78"/>
            </a:endParaRPr>
          </a:p>
        </p:txBody>
      </p:sp>
      <p:sp>
        <p:nvSpPr>
          <p:cNvPr id="3" name="TextBox 2">
            <a:extLst>
              <a:ext uri="{FF2B5EF4-FFF2-40B4-BE49-F238E27FC236}">
                <ns2:creationId id="{62A7447B-AF41-5C41-993B-2F9A70F7C792}"/>
              </a:ext>
            </a:extLst>
          </p:cNvPr>
          <p:cNvSpPr txBox="1"/>
          <p:nvPr/>
        </p:nvSpPr>
        <p:spPr>
          <a:xfrm>
            <a:off x="7122319" y="4490789"/>
            <a:ext cx="44026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SA" sz="1200" dirty="0">
                <a:solidFill>
                  <a:srgbClr val="77777A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تكثيف الجولات الميدانية على شبكة الطرق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SA" sz="1200" dirty="0">
                <a:solidFill>
                  <a:srgbClr val="77777A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الترتيب مع إدارة السلامة بالفرع لعمل ورشة عمل لتوعية المقاولين بمواصفات تامين مواقع العمل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SA" sz="1200" dirty="0">
                <a:solidFill>
                  <a:srgbClr val="77777A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مراجعة مخططات الاعمال التكميلية لربط طريق المدينة السريع بطريق المعظم</a:t>
            </a:r>
          </a:p>
          <a:p>
            <a:pPr algn="r" rtl="1"/>
            <a:endParaRPr lang="ar-SA" sz="1200" dirty="0">
              <a:solidFill>
                <a:srgbClr val="77777A"/>
              </a:solidFill>
              <a:latin typeface="Cairo" panose="00000500000000000000" pitchFamily="2" charset="-78"/>
              <a:cs typeface="Cairo" panose="00000500000000000000" pitchFamily="2" charset="-78"/>
            </a:endParaRPr>
          </a:p>
          <a:p>
            <a:pPr algn="r" rtl="1"/>
            <a:endParaRPr lang="en-US" sz="1200" dirty="0">
              <a:solidFill>
                <a:srgbClr val="77777A"/>
              </a:solidFill>
              <a:latin typeface="Cairo" panose="00000500000000000000" pitchFamily="2" charset="-78"/>
              <a:cs typeface="Cairo" panose="00000500000000000000" pitchFamily="2" charset="-78"/>
            </a:endParaRPr>
          </a:p>
        </p:txBody>
      </p:sp>
      <p:sp>
        <p:nvSpPr>
          <p:cNvPr id="24" name="TextBox 23">
            <a:extLst>
              <a:ext uri="{FF2B5EF4-FFF2-40B4-BE49-F238E27FC236}">
                <ns2:creationId id="{3CFA252C-A833-86F9-0A4D-D461DC19957A}"/>
              </a:ext>
            </a:extLst>
          </p:cNvPr>
          <p:cNvSpPr txBox="1"/>
          <p:nvPr/>
        </p:nvSpPr>
        <p:spPr>
          <a:xfrm>
            <a:off x="3652141" y="3987036"/>
            <a:ext cx="2216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1400" b="1" dirty="0">
                <a:solidFill>
                  <a:srgbClr val="77777A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تفاصيل إضافية:</a:t>
            </a:r>
            <a:endParaRPr lang="en-US" sz="1400" b="1" dirty="0">
              <a:solidFill>
                <a:srgbClr val="77777A"/>
              </a:solidFill>
              <a:latin typeface="Cairo" panose="00000500000000000000" pitchFamily="2" charset="-78"/>
              <a:cs typeface="Cairo" panose="00000500000000000000" pitchFamily="2" charset="-78"/>
            </a:endParaRPr>
          </a:p>
        </p:txBody>
      </p:sp>
      <p:sp>
        <p:nvSpPr>
          <p:cNvPr id="25" name="TextBox 24">
            <a:extLst>
              <a:ext uri="{FF2B5EF4-FFF2-40B4-BE49-F238E27FC236}">
                <ns2:creationId id="{A34E5396-6E2A-61F0-3B12-ECA13DED5F84}"/>
              </a:ext>
            </a:extLst>
          </p:cNvPr>
          <p:cNvSpPr txBox="1"/>
          <p:nvPr/>
        </p:nvSpPr>
        <p:spPr>
          <a:xfrm>
            <a:off x="1177717" y="4272146"/>
            <a:ext cx="472497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000012020150	12020150	Tabok to Madina Road	Sensor No. 1</a:t>
            </a:r>
            <a:r>
              <a:rPr lang="en-US" sz="1000" dirty="0" err="1"/>
              <a:t>000012030052	12030052	Duba to Jordan Road</a:t>
            </a:r>
            <a:r>
              <a:rPr lang="en-US" sz="1000" dirty="0"/>
              <a:t/>
            </a:r>
          </a:p>
          <a:p>
            <a:r>
              <a:rPr lang="en-US" sz="1000" dirty="0"/>
              <a:t/>
            </a:r>
          </a:p>
          <a:p>
            <a:r>
              <a:rPr lang="en-US" sz="1000" dirty="0"/>
              <a:t/>
            </a:r>
          </a:p>
          <a:p>
            <a:r>
              <a:rPr lang="en-US" sz="1000" dirty="0"/>
              <a:t/>
            </a:r>
          </a:p>
          <a:p>
            <a:r>
              <a:rPr lang="en-US" sz="1000" dirty="0"/>
              <a:t/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77777A"/>
              </a:solidFill>
              <a:latin typeface="Cairo" panose="00000500000000000000" pitchFamily="2" charset="-78"/>
              <a:cs typeface="Cairo" panose="00000500000000000000" pitchFamily="2" charset="-78"/>
            </a:endParaRPr>
          </a:p>
        </p:txBody>
      </p:sp>
      <p:sp>
        <p:nvSpPr>
          <p:cNvPr id="10" name="TextBox 10">
            <a:extLst>
              <a:ext uri="{FF2B5EF4-FFF2-40B4-BE49-F238E27FC236}">
                <ns2:creationId id="{E5147AAE-586A-391F-A15B-40287298E7D6}"/>
              </a:ext>
            </a:extLst>
          </p:cNvPr>
          <p:cNvSpPr txBox="1"/>
          <p:nvPr/>
        </p:nvSpPr>
        <p:spPr>
          <a:xfrm>
            <a:off x="382377" y="436092"/>
            <a:ext cx="7953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 rtl="1">
              <a:defRPr sz="1100" b="1">
                <a:solidFill>
                  <a:schemeClr val="bg1"/>
                </a:solidFill>
                <a:latin typeface="Cairo" panose="00000500000000000000" pitchFamily="2" charset="-78"/>
                <a:cs typeface="Cairo" panose="00000500000000000000" pitchFamily="2" charset="-78"/>
              </a:defRPr>
            </a:lvl1pPr>
          </a:lstStyle>
          <a:p>
            <a:r>
              <a:rPr lang="ar-SA" dirty="0"/>
              <a:t>(يونيو)</a:t>
            </a:r>
            <a:endParaRPr lang="en-US" dirty="0"/>
          </a:p>
        </p:txBody>
      </p:sp>
      <p:sp>
        <p:nvSpPr>
          <p:cNvPr id="26" name="مستطيل 1">
            <a:extLst>
              <a:ext uri="{FF2B5EF4-FFF2-40B4-BE49-F238E27FC236}">
                <ns2:creationId id="{CA2688B0-0D97-8A44-3F4C-524B363EDBD5}"/>
              </a:ext>
            </a:extLst>
          </p:cNvPr>
          <p:cNvSpPr/>
          <p:nvPr/>
        </p:nvSpPr>
        <p:spPr>
          <a:xfrm>
            <a:off x="-600799" y="2233063"/>
            <a:ext cx="385011" cy="385011"/>
          </a:xfrm>
          <a:prstGeom prst="rect">
            <a:avLst/>
          </a:prstGeom>
          <a:solidFill>
            <a:srgbClr val="4F7E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685800" rtl="0" eaLnBrk="1" latinLnBrk="0" hangingPunct="1"/>
            <a:endParaRPr lang="ar-SA" sz="1350">
              <a:latin typeface="Cairo" panose="00000500000000000000" pitchFamily="2" charset="-78"/>
              <a:cs typeface="Cairo" panose="00000500000000000000" pitchFamily="2" charset="-78"/>
            </a:endParaRPr>
          </a:p>
        </p:txBody>
      </p:sp>
      <p:sp>
        <p:nvSpPr>
          <p:cNvPr id="27" name="مستطيل 2">
            <a:extLst>
              <a:ext uri="{FF2B5EF4-FFF2-40B4-BE49-F238E27FC236}">
                <ns2:creationId id="{6C46BB9C-B024-93FF-060A-6F71377AE867}"/>
              </a:ext>
            </a:extLst>
          </p:cNvPr>
          <p:cNvSpPr/>
          <p:nvPr/>
        </p:nvSpPr>
        <p:spPr>
          <a:xfrm>
            <a:off x="-600799" y="3137837"/>
            <a:ext cx="385011" cy="385011"/>
          </a:xfrm>
          <a:prstGeom prst="rect">
            <a:avLst/>
          </a:prstGeom>
          <a:solidFill>
            <a:srgbClr val="7777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685800" rtl="0" eaLnBrk="1" latinLnBrk="0" hangingPunct="1"/>
            <a:endParaRPr lang="ar-SA" sz="1350">
              <a:latin typeface="Cairo" panose="00000500000000000000" pitchFamily="2" charset="-78"/>
              <a:cs typeface="Cairo" panose="00000500000000000000" pitchFamily="2" charset="-78"/>
            </a:endParaRPr>
          </a:p>
        </p:txBody>
      </p:sp>
      <p:sp>
        <p:nvSpPr>
          <p:cNvPr id="28" name="مستطيل 3">
            <a:extLst>
              <a:ext uri="{FF2B5EF4-FFF2-40B4-BE49-F238E27FC236}">
                <ns2:creationId id="{AEF22CDA-FA47-CFC4-96A4-1E89B1EB8012}"/>
              </a:ext>
            </a:extLst>
          </p:cNvPr>
          <p:cNvSpPr/>
          <p:nvPr/>
        </p:nvSpPr>
        <p:spPr>
          <a:xfrm>
            <a:off x="-600799" y="3590225"/>
            <a:ext cx="385011" cy="385011"/>
          </a:xfrm>
          <a:prstGeom prst="rect">
            <a:avLst/>
          </a:prstGeom>
          <a:solidFill>
            <a:srgbClr val="A593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685800" rtl="0" eaLnBrk="1" latinLnBrk="0" hangingPunct="1"/>
            <a:endParaRPr lang="ar-SA" sz="1350">
              <a:latin typeface="Cairo" panose="00000500000000000000" pitchFamily="2" charset="-78"/>
              <a:cs typeface="Cairo" panose="00000500000000000000" pitchFamily="2" charset="-78"/>
            </a:endParaRPr>
          </a:p>
        </p:txBody>
      </p:sp>
      <p:sp>
        <p:nvSpPr>
          <p:cNvPr id="29" name="مستطيل 4">
            <a:extLst>
              <a:ext uri="{FF2B5EF4-FFF2-40B4-BE49-F238E27FC236}">
                <ns2:creationId id="{7FDE97ED-CD69-A20B-674E-8B95446619D3}"/>
              </a:ext>
            </a:extLst>
          </p:cNvPr>
          <p:cNvSpPr/>
          <p:nvPr/>
        </p:nvSpPr>
        <p:spPr>
          <a:xfrm>
            <a:off x="-600799" y="4042613"/>
            <a:ext cx="385011" cy="385011"/>
          </a:xfrm>
          <a:prstGeom prst="rect">
            <a:avLst/>
          </a:prstGeom>
          <a:solidFill>
            <a:srgbClr val="A947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685800" rtl="0" eaLnBrk="1" latinLnBrk="0" hangingPunct="1"/>
            <a:endParaRPr lang="ar-SA" sz="1350">
              <a:latin typeface="Cairo" panose="00000500000000000000" pitchFamily="2" charset="-78"/>
              <a:cs typeface="Cairo" panose="00000500000000000000" pitchFamily="2" charset="-78"/>
            </a:endParaRPr>
          </a:p>
        </p:txBody>
      </p:sp>
      <p:sp>
        <p:nvSpPr>
          <p:cNvPr id="30" name="مستطيل 5">
            <a:extLst>
              <a:ext uri="{FF2B5EF4-FFF2-40B4-BE49-F238E27FC236}">
                <ns2:creationId id="{4A224145-598E-148F-D7B3-918E159393FE}"/>
              </a:ext>
            </a:extLst>
          </p:cNvPr>
          <p:cNvSpPr/>
          <p:nvPr/>
        </p:nvSpPr>
        <p:spPr>
          <a:xfrm>
            <a:off x="-600799" y="4495002"/>
            <a:ext cx="385011" cy="385011"/>
          </a:xfrm>
          <a:prstGeom prst="rect">
            <a:avLst/>
          </a:prstGeom>
          <a:solidFill>
            <a:srgbClr val="5074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685800" rtl="0" eaLnBrk="1" latinLnBrk="0" hangingPunct="1"/>
            <a:endParaRPr lang="ar-SA" sz="1350">
              <a:latin typeface="Cairo" panose="00000500000000000000" pitchFamily="2" charset="-78"/>
              <a:cs typeface="Cairo" panose="00000500000000000000" pitchFamily="2" charset="-78"/>
            </a:endParaRPr>
          </a:p>
        </p:txBody>
      </p:sp>
      <p:sp>
        <p:nvSpPr>
          <p:cNvPr id="31" name="مستطيل 6">
            <a:extLst>
              <a:ext uri="{FF2B5EF4-FFF2-40B4-BE49-F238E27FC236}">
                <ns2:creationId id="{D424DF86-4C53-05DD-3A19-AC2EFF73F39F}"/>
              </a:ext>
            </a:extLst>
          </p:cNvPr>
          <p:cNvSpPr/>
          <p:nvPr/>
        </p:nvSpPr>
        <p:spPr>
          <a:xfrm>
            <a:off x="-600799" y="2685448"/>
            <a:ext cx="385011" cy="385011"/>
          </a:xfrm>
          <a:prstGeom prst="rect">
            <a:avLst/>
          </a:prstGeom>
          <a:solidFill>
            <a:srgbClr val="BB9D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685800" rtl="0" eaLnBrk="1" latinLnBrk="0" hangingPunct="1"/>
            <a:endParaRPr lang="ar-SA" sz="1350">
              <a:latin typeface="Cairo" panose="00000500000000000000" pitchFamily="2" charset="-78"/>
              <a:cs typeface="Cairo" panose="00000500000000000000" pitchFamily="2" charset="-78"/>
            </a:endParaRPr>
          </a:p>
        </p:txBody>
      </p:sp>
    </p:spTree>
    <p:extLst>
      <p:ext uri="{BB962C8B-B14F-4D97-AF65-F5344CB8AC3E}">
        <ns6:creationId val="22677500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1527</TotalTime>
  <Words>375</Words>
  <Application>Microsoft Office PowerPoint</Application>
  <PresentationFormat>شاشة عريضة</PresentationFormat>
  <Paragraphs>91</Paragraphs>
  <Slides>2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4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2</vt:i4>
      </vt:variant>
    </vt:vector>
  </HeadingPairs>
  <TitlesOfParts>
    <vt:vector size="7" baseType="lpstr">
      <vt:lpstr>Arial</vt:lpstr>
      <vt:lpstr>Cairo</vt:lpstr>
      <vt:lpstr>Calibri</vt:lpstr>
      <vt:lpstr>Calibri Light</vt:lpstr>
      <vt:lpstr>Office Theme</vt:lpstr>
      <vt:lpstr>عرض تقديمي في PowerPoint</vt:lpstr>
      <vt:lpstr>عرض تقديمي في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رغد عبدالله العبيد GBND231197</dc:creator>
  <cp:lastModifiedBy>hassan alhalabi</cp:lastModifiedBy>
  <cp:revision>44</cp:revision>
  <dcterms:created xsi:type="dcterms:W3CDTF">2023-09-14T11:25:53Z</dcterms:created>
  <dcterms:modified xsi:type="dcterms:W3CDTF">2025-07-09T19:21:32Z</dcterms:modified>
</cp:coreProperties>
</file>